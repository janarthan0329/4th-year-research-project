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21"/>
  </p:notesMasterIdLst>
  <p:handoutMasterIdLst>
    <p:handoutMasterId r:id="rId22"/>
  </p:handoutMasterIdLst>
  <p:sldIdLst>
    <p:sldId id="256" r:id="rId2"/>
    <p:sldId id="257" r:id="rId3"/>
    <p:sldId id="277" r:id="rId4"/>
    <p:sldId id="306" r:id="rId5"/>
    <p:sldId id="308" r:id="rId6"/>
    <p:sldId id="309" r:id="rId7"/>
    <p:sldId id="310" r:id="rId8"/>
    <p:sldId id="311" r:id="rId9"/>
    <p:sldId id="312" r:id="rId10"/>
    <p:sldId id="313" r:id="rId11"/>
    <p:sldId id="314" r:id="rId12"/>
    <p:sldId id="322" r:id="rId13"/>
    <p:sldId id="315" r:id="rId14"/>
    <p:sldId id="316" r:id="rId15"/>
    <p:sldId id="317" r:id="rId16"/>
    <p:sldId id="318" r:id="rId17"/>
    <p:sldId id="319" r:id="rId18"/>
    <p:sldId id="321" r:id="rId19"/>
    <p:sldId id="275" r:id="rId20"/>
  </p:sldIdLst>
  <p:sldSz cx="12192000" cy="6858000"/>
  <p:notesSz cx="6858000" cy="9144000"/>
  <p:embeddedFontLst>
    <p:embeddedFont>
      <p:font typeface="Amasis MT Pro" panose="02040504050005020304" pitchFamily="18" charset="0"/>
      <p:regular r:id="rId23"/>
      <p:bold r:id="rId24"/>
      <p:italic r:id="rId25"/>
      <p:boldItalic r:id="rId26"/>
    </p:embeddedFont>
    <p:embeddedFont>
      <p:font typeface="Roboto Black" panose="02000000000000000000" pitchFamily="2" charset="0"/>
      <p:bold r:id="rId27"/>
      <p:boldItalic r:id="rId28"/>
    </p:embeddedFont>
    <p:embeddedFont>
      <p:font typeface="Roboto Light" panose="02000000000000000000" pitchFamily="2" charset="0"/>
      <p:regular r:id="rId29"/>
      <p:italic r:id="rId30"/>
    </p:embeddedFont>
    <p:embeddedFont>
      <p:font typeface="Roboto Medium" panose="02000000000000000000" pitchFamily="2" charset="0"/>
      <p:regular r:id="rId31"/>
      <p:italic r:id="rId32"/>
    </p:embeddedFont>
  </p:embeddedFontLst>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4" userDrawn="1">
          <p15:clr>
            <a:srgbClr val="A4A3A4"/>
          </p15:clr>
        </p15:guide>
        <p15:guide id="2" pos="3839" userDrawn="1">
          <p15:clr>
            <a:srgbClr val="A4A3A4"/>
          </p15:clr>
        </p15:guide>
        <p15:guide id="3" pos="7293" userDrawn="1">
          <p15:clr>
            <a:srgbClr val="A4A3A4"/>
          </p15:clr>
        </p15:guide>
        <p15:guide id="4" pos="4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82" d="100"/>
          <a:sy n="82" d="100"/>
        </p:scale>
        <p:origin x="672" y="72"/>
      </p:cViewPr>
      <p:guideLst>
        <p:guide orient="horz" pos="4324"/>
        <p:guide pos="3839"/>
        <p:guide pos="7293"/>
        <p:guide pos="427"/>
      </p:guideLst>
    </p:cSldViewPr>
  </p:slideViewPr>
  <p:notesTextViewPr>
    <p:cViewPr>
      <p:scale>
        <a:sx n="200" d="100"/>
        <a:sy n="200" d="100"/>
      </p:scale>
      <p:origin x="0" y="0"/>
    </p:cViewPr>
  </p:notesText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Roboto Light" panose="02000000000000000000" charset="0"/>
              <a:ea typeface="Roboto Light" panose="02000000000000000000" charset="0"/>
              <a:cs typeface="Roboto Light" panose="02000000000000000000"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Roboto Light" panose="02000000000000000000" charset="0"/>
              </a:rPr>
              <a:t>2025/6/4</a:t>
            </a:fld>
            <a:endParaRPr lang="zh-CN" altLang="en-US">
              <a:ea typeface="Roboto Light" panose="02000000000000000000"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Roboto Light" panose="02000000000000000000" charset="0"/>
              <a:ea typeface="Roboto Light" panose="02000000000000000000" charset="0"/>
              <a:cs typeface="Roboto Light" panose="02000000000000000000"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Roboto Light" panose="02000000000000000000" charset="0"/>
              </a:rPr>
              <a:t>‹#›</a:t>
            </a:fld>
            <a:endParaRPr lang="zh-CN" altLang="en-US">
              <a:ea typeface="Roboto Light" panose="02000000000000000000" charset="0"/>
            </a:endParaRPr>
          </a:p>
        </p:txBody>
      </p:sp>
    </p:spTree>
    <p:extLst>
      <p:ext uri="{BB962C8B-B14F-4D97-AF65-F5344CB8AC3E}">
        <p14:creationId xmlns:p14="http://schemas.microsoft.com/office/powerpoint/2010/main" val="42883253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Roboto Light" panose="02000000000000000000" charset="0"/>
                <a:ea typeface="Roboto Light" panose="02000000000000000000" charset="0"/>
                <a:cs typeface="Roboto Light" panose="02000000000000000000"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Roboto Light" panose="02000000000000000000" charset="0"/>
                <a:ea typeface="Roboto Light" panose="02000000000000000000" charset="0"/>
                <a:cs typeface="Roboto Light" panose="02000000000000000000" charset="0"/>
              </a:defRPr>
            </a:lvl1pPr>
          </a:lstStyle>
          <a:p>
            <a:fld id="{D2A48B96-639E-45A3-A0BA-2464DFDB1FAA}" type="datetimeFigureOut">
              <a:rPr lang="zh-CN" altLang="en-US" smtClean="0"/>
              <a:t>2025/6/4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Roboto Light" panose="02000000000000000000" charset="0"/>
                <a:ea typeface="Roboto Light" panose="02000000000000000000" charset="0"/>
                <a:cs typeface="Roboto Light" panose="02000000000000000000"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Roboto Light" panose="02000000000000000000" charset="0"/>
                <a:ea typeface="Roboto Light" panose="02000000000000000000" charset="0"/>
                <a:cs typeface="Roboto Light" panose="02000000000000000000" charset="0"/>
              </a:defRPr>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05867602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1pPr>
    <a:lvl2pPr marL="4572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2pPr>
    <a:lvl3pPr marL="9144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3pPr>
    <a:lvl4pPr marL="13716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4pPr>
    <a:lvl5pPr marL="1828800" algn="l" defTabSz="914400" rtl="0" eaLnBrk="1" latinLnBrk="0" hangingPunct="1">
      <a:defRPr sz="1200" kern="1200">
        <a:solidFill>
          <a:schemeClr val="tx1"/>
        </a:solidFill>
        <a:latin typeface="Roboto Light" panose="02000000000000000000" charset="0"/>
        <a:ea typeface="Roboto Light" panose="02000000000000000000" charset="0"/>
        <a:cs typeface="Roboto Light" panose="02000000000000000000"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118174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557520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989444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22796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A2D3-1067-92AD-8B76-C46592678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3F2E8-7B74-ACD0-7FE7-81DD197C02F6}"/>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AE2CE6C6-91A7-27B2-19E1-1757EC3C8DC5}"/>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B1BC61B3-1756-63D0-BEB6-EEB2E32A06CE}"/>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2443553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CD69C-549E-98DA-A943-F561757C1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C76D63-3364-5322-18BB-92623121FD1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C820884-CFD8-E6F5-6194-481AE1DD615D}"/>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5DF4FC5A-5E27-D9D6-79F2-8BF977CFFA20}"/>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154001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966A1-2C18-792F-844C-6FBB40DD2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B1EF7-E7C0-AFB1-A1EB-884FEA491B7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6BAF451-37FA-00A1-2A30-017223A512CC}"/>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7F8D79A6-60B6-F9FE-C692-BB5E587C6129}"/>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989153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CDAD9-3985-E499-17D5-4BEC3BAAE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FBB4F-F884-636A-5D2F-0462EF5DD1B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6002971-3939-AE0C-961C-32420E231FC5}"/>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9788FC2B-4B31-1011-E170-E6ED51ED62DB}"/>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958420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B13C1-54AE-C204-CE8E-ACE8FC4CE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F8E71-FD1B-ABC9-C64F-BA8467647AAA}"/>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248C269-A04C-D0A5-3FE8-058479D4B893}"/>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1C766330-01E7-04F4-76BB-512AF13550D3}"/>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727790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44896-1721-320B-FDAD-857B6C19F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65F46-0D99-0462-A4FF-906BF4740B2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A166BBA1-E6E1-2EF7-888E-9ACCC7A0F058}"/>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777D6D63-DBA8-0F63-6AD7-C9B8E97A54A3}"/>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366836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DE506-4D24-F8E8-2109-0202B805F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671F3-E737-5833-8FCE-985985F33592}"/>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9AADADA8-86BD-AD1C-CCE0-04EF5D5D75CF}"/>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509133E3-D5B6-ED2B-C517-A070A4422BDB}"/>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142929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BC745-933A-B896-DF3C-72F104286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3387D-69BB-51E4-F303-B9E49365F1C4}"/>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AFBC2101-B788-1B06-A10F-3A2E3C9D3438}"/>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AAB51726-ECF5-AA02-5436-4A16703F7392}"/>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49175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29F85-49C3-A75A-791F-55A673616D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36E54-584C-66AA-8110-4F1F564B160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4F677250-3564-5065-3958-BEC6582E3BFC}"/>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49E12350-4DC1-D3FC-900F-030EAAB25866}"/>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870433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C9616-3B76-6B81-CF0B-2079ABEDD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0890A-519A-4B21-A12F-B40C98FA64A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35C123B-4451-5351-8046-B321CF8DD134}"/>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8658947A-E45D-D310-8BE3-A2262A2F6547}"/>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4200282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58361-5A93-0434-91D9-EE9FE45F7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44C53-7404-9CAD-0220-084266329A2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BE6EE475-FB7B-21CA-1478-6DB522E714D7}"/>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3A84BD54-05C2-9AC3-9935-5FB420139FA7}"/>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2971309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4637-2F3A-AD72-6213-C6CC8E4E0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7C520-AC2C-7662-B2A3-EFCE0AB4AB61}"/>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D38B5469-3263-5FC6-C578-7D11A2F201B5}"/>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BA284CFE-5B73-6C82-712F-4262CE67FC77}"/>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502542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649C7-4030-EBA2-15B5-73CC24F640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7BDA7-761B-0A6F-2B53-3A20FCB982A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C71B951-4584-5318-33DA-A3407F50B77B}"/>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0C5497C9-54DB-2BF3-2E20-56CBAE0C541E}"/>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685240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B5417-2699-9ECF-BF90-9F34D1BD1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334FD-792B-2550-6CF7-A02D9F89BC6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95200247-6338-2A1D-C79F-37C8A5C2F967}"/>
              </a:ext>
            </a:extLst>
          </p:cNvPr>
          <p:cNvSpPr>
            <a:spLocks noGrp="1"/>
          </p:cNvSpPr>
          <p:nvPr>
            <p:ph type="body" idx="3"/>
          </p:nvPr>
        </p:nvSpPr>
        <p:spPr/>
        <p:txBody>
          <a:bodyPr/>
          <a:lstStyle/>
          <a:p>
            <a:endParaRPr lang="en-US"/>
          </a:p>
        </p:txBody>
      </p:sp>
      <p:sp>
        <p:nvSpPr>
          <p:cNvPr id="4" name="Slide Number Placeholder 3">
            <a:extLst>
              <a:ext uri="{FF2B5EF4-FFF2-40B4-BE49-F238E27FC236}">
                <a16:creationId xmlns:a16="http://schemas.microsoft.com/office/drawing/2014/main" id="{B21719B7-542C-D7FE-B44D-AF25B9DCD666}"/>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23983859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4248918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9" name="矩形 8"/>
          <p:cNvSpPr/>
          <p:nvPr userDrawn="1"/>
        </p:nvSpPr>
        <p:spPr>
          <a:xfrm>
            <a:off x="0" y="0"/>
            <a:ext cx="12195810" cy="338709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
        <p:nvSpPr>
          <p:cNvPr id="10" name="矩形 9"/>
          <p:cNvSpPr/>
          <p:nvPr userDrawn="1"/>
        </p:nvSpPr>
        <p:spPr>
          <a:xfrm>
            <a:off x="782320" y="683260"/>
            <a:ext cx="10624185" cy="5491480"/>
          </a:xfrm>
          <a:prstGeom prst="rect">
            <a:avLst/>
          </a:prstGeom>
          <a:solidFill>
            <a:schemeClr val="bg1"/>
          </a:solidFill>
          <a:ln>
            <a:solidFill>
              <a:schemeClr val="accent5">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7" name="矩形 6"/>
          <p:cNvSpPr/>
          <p:nvPr userDrawn="1"/>
        </p:nvSpPr>
        <p:spPr>
          <a:xfrm>
            <a:off x="0" y="302260"/>
            <a:ext cx="228600" cy="54102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7" name="矩形 6"/>
          <p:cNvSpPr/>
          <p:nvPr userDrawn="1"/>
        </p:nvSpPr>
        <p:spPr>
          <a:xfrm>
            <a:off x="0" y="0"/>
            <a:ext cx="12195810" cy="338709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Roboto Light" panose="02000000000000000000" charset="0"/>
            </a:endParaRPr>
          </a:p>
        </p:txBody>
      </p:sp>
      <p:sp>
        <p:nvSpPr>
          <p:cNvPr id="8" name="矩形 7"/>
          <p:cNvSpPr/>
          <p:nvPr userDrawn="1"/>
        </p:nvSpPr>
        <p:spPr>
          <a:xfrm>
            <a:off x="239395" y="240665"/>
            <a:ext cx="11712575" cy="6376670"/>
          </a:xfrm>
          <a:prstGeom prst="rect">
            <a:avLst/>
          </a:prstGeom>
          <a:solidFill>
            <a:schemeClr val="bg1"/>
          </a:solidFill>
          <a:ln>
            <a:solidFill>
              <a:schemeClr val="accent5">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Roboto Light" panose="02000000000000000000" charset="0"/>
              <a:sym typeface="+mn-ea"/>
            </a:endParaRPr>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Roboto Light" panose="02000000000000000000" charset="0"/>
                <a:ea typeface="Roboto Light" panose="02000000000000000000" charset="0"/>
                <a:cs typeface="Roboto Light" panose="02000000000000000000" charset="0"/>
              </a:defRPr>
            </a:lvl1pPr>
          </a:lstStyle>
          <a:p>
            <a:fld id="{D997B5FA-0921-464F-AAE1-844C04324D75}" type="datetimeFigureOut">
              <a:rPr lang="zh-CN" altLang="en-US" smtClean="0"/>
              <a:t>2025/6/4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Roboto Light" panose="02000000000000000000" charset="0"/>
                <a:ea typeface="Roboto Light" panose="02000000000000000000" charset="0"/>
                <a:cs typeface="Roboto Light" panose="02000000000000000000" charset="0"/>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Roboto Light" panose="02000000000000000000" charset="0"/>
                <a:ea typeface="Roboto Light" panose="02000000000000000000" charset="0"/>
                <a:cs typeface="Roboto Light" panose="02000000000000000000" charset="0"/>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Roboto Light" panose="02000000000000000000" charset="0"/>
          <a:ea typeface="Roboto Light" panose="02000000000000000000" charset="0"/>
          <a:cs typeface="Roboto Light"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Light" panose="02000000000000000000" charset="0"/>
          <a:ea typeface="Roboto Light" panose="02000000000000000000" charset="0"/>
          <a:cs typeface="Roboto Light"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Light" panose="02000000000000000000" charset="0"/>
          <a:ea typeface="Roboto Light" panose="02000000000000000000" charset="0"/>
          <a:cs typeface="Roboto Light"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Light" panose="02000000000000000000" charset="0"/>
          <a:ea typeface="Roboto Light" panose="02000000000000000000" charset="0"/>
          <a:cs typeface="Roboto Light"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Light" panose="02000000000000000000" charset="0"/>
          <a:ea typeface="Roboto Light" panose="02000000000000000000" charset="0"/>
          <a:cs typeface="Roboto Light"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Light" panose="02000000000000000000" charset="0"/>
          <a:ea typeface="Roboto Light" panose="02000000000000000000" charset="0"/>
          <a:cs typeface="Roboto Light"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janarthan@std.appsc.sab.ac.l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145/3539597.3570420"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文本框 3"/>
          <p:cNvSpPr txBox="1"/>
          <p:nvPr/>
        </p:nvSpPr>
        <p:spPr>
          <a:xfrm>
            <a:off x="1421555" y="1794510"/>
            <a:ext cx="9348889" cy="1588127"/>
          </a:xfrm>
          <a:prstGeom prst="rect">
            <a:avLst/>
          </a:prstGeom>
          <a:noFill/>
        </p:spPr>
        <p:txBody>
          <a:bodyPr wrap="square" rtlCol="0" anchor="t">
            <a:spAutoFit/>
          </a:bodyPr>
          <a:lstStyle/>
          <a:p>
            <a:pPr algn="ctr">
              <a:lnSpc>
                <a:spcPct val="90000"/>
              </a:lnSpc>
              <a:spcBef>
                <a:spcPts val="0"/>
              </a:spcBef>
              <a:spcAft>
                <a:spcPts val="0"/>
              </a:spcAft>
              <a:buClrTx/>
              <a:buSzTx/>
              <a:buFontTx/>
            </a:pPr>
            <a:r>
              <a:rPr lang="en-US" altLang="zh-CN" sz="3600" dirty="0">
                <a:solidFill>
                  <a:srgbClr val="203864"/>
                </a:solidFill>
                <a:latin typeface="Times New Roman" panose="02020603050405020304" charset="0"/>
                <a:cs typeface="Times New Roman" panose="02020603050405020304" charset="0"/>
              </a:rPr>
              <a:t>Time Series Forecasting of User Engagement in Python Software Applications Based on Usage Logs</a:t>
            </a:r>
            <a:endParaRPr lang="zh-CN" altLang="en-US" sz="3600" dirty="0">
              <a:solidFill>
                <a:srgbClr val="203864"/>
              </a:solidFill>
              <a:latin typeface="Times New Roman" panose="02020603050405020304" charset="0"/>
              <a:cs typeface="Times New Roman" panose="02020603050405020304" charset="0"/>
            </a:endParaRPr>
          </a:p>
        </p:txBody>
      </p:sp>
      <p:sp>
        <p:nvSpPr>
          <p:cNvPr id="7" name="文本框 6"/>
          <p:cNvSpPr txBox="1"/>
          <p:nvPr/>
        </p:nvSpPr>
        <p:spPr>
          <a:xfrm>
            <a:off x="2773679" y="3382637"/>
            <a:ext cx="6644640" cy="1256754"/>
          </a:xfrm>
          <a:prstGeom prst="rect">
            <a:avLst/>
          </a:prstGeom>
          <a:noFill/>
        </p:spPr>
        <p:txBody>
          <a:bodyPr wrap="square" rtlCol="0" anchor="t">
            <a:spAutoFit/>
          </a:bodyPr>
          <a:lstStyle/>
          <a:p>
            <a:pPr algn="ctr">
              <a:lnSpc>
                <a:spcPct val="130000"/>
              </a:lnSpc>
              <a:spcBef>
                <a:spcPts val="0"/>
              </a:spcBef>
              <a:spcAft>
                <a:spcPts val="0"/>
              </a:spcAft>
              <a:buClrTx/>
              <a:buSzTx/>
              <a:buFontTx/>
            </a:pPr>
            <a:r>
              <a:rPr lang="en-US" altLang="zh-CN" sz="2000" dirty="0">
                <a:solidFill>
                  <a:srgbClr val="203864"/>
                </a:solidFill>
                <a:latin typeface="Roboto Medium" panose="02000000000000000000" charset="0"/>
                <a:ea typeface="Roboto Light" panose="02000000000000000000" charset="0"/>
                <a:cs typeface="Roboto Medium" panose="02000000000000000000" charset="0"/>
                <a:sym typeface="+mn-ea"/>
              </a:rPr>
              <a:t>Janarthan Vijayakumar</a:t>
            </a:r>
          </a:p>
          <a:p>
            <a:pPr algn="ctr">
              <a:lnSpc>
                <a:spcPct val="130000"/>
              </a:lnSpc>
              <a:spcBef>
                <a:spcPts val="0"/>
              </a:spcBef>
              <a:spcAft>
                <a:spcPts val="0"/>
              </a:spcAft>
              <a:buClrTx/>
              <a:buSzTx/>
              <a:buFontTx/>
            </a:pPr>
            <a:r>
              <a:rPr lang="en-US" altLang="zh-CN" sz="2000" dirty="0">
                <a:solidFill>
                  <a:srgbClr val="203864"/>
                </a:solidFill>
                <a:latin typeface="Roboto Medium" panose="02000000000000000000" charset="0"/>
                <a:ea typeface="Roboto Light" panose="02000000000000000000" charset="0"/>
                <a:cs typeface="Roboto Medium" panose="02000000000000000000" charset="0"/>
                <a:hlinkClick r:id="rId3"/>
              </a:rPr>
              <a:t>vjanarthan@std.appsc.sab.ac.lk</a:t>
            </a:r>
            <a:endParaRPr lang="en-US" altLang="zh-CN" sz="2000" dirty="0">
              <a:solidFill>
                <a:srgbClr val="203864"/>
              </a:solidFill>
              <a:latin typeface="Roboto Medium" panose="02000000000000000000" charset="0"/>
              <a:ea typeface="Roboto Light" panose="02000000000000000000" charset="0"/>
              <a:cs typeface="Roboto Medium" panose="02000000000000000000" charset="0"/>
            </a:endParaRPr>
          </a:p>
          <a:p>
            <a:pPr algn="ctr">
              <a:lnSpc>
                <a:spcPct val="130000"/>
              </a:lnSpc>
              <a:spcBef>
                <a:spcPts val="0"/>
              </a:spcBef>
              <a:spcAft>
                <a:spcPts val="0"/>
              </a:spcAft>
              <a:buClrTx/>
              <a:buSzTx/>
              <a:buFontTx/>
            </a:pPr>
            <a:r>
              <a:rPr lang="en-US" altLang="zh-CN" sz="2000" dirty="0">
                <a:solidFill>
                  <a:srgbClr val="203864"/>
                </a:solidFill>
                <a:latin typeface="Roboto Medium" panose="02000000000000000000" charset="0"/>
                <a:ea typeface="Roboto Light" panose="02000000000000000000" charset="0"/>
                <a:cs typeface="Roboto Medium" panose="02000000000000000000" charset="0"/>
              </a:rPr>
              <a:t>19APSE4276</a:t>
            </a:r>
          </a:p>
        </p:txBody>
      </p:sp>
      <p:sp>
        <p:nvSpPr>
          <p:cNvPr id="14" name="文本框 7"/>
          <p:cNvSpPr txBox="1"/>
          <p:nvPr/>
        </p:nvSpPr>
        <p:spPr>
          <a:xfrm>
            <a:off x="944880" y="4687252"/>
            <a:ext cx="7182472" cy="147732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dirty="0">
                <a:solidFill>
                  <a:schemeClr val="tx1">
                    <a:lumMod val="75000"/>
                    <a:lumOff val="25000"/>
                  </a:schemeClr>
                </a:solidFill>
                <a:latin typeface="Roboto Light" panose="02000000000000000000" charset="0"/>
                <a:cs typeface="Roboto Light" panose="02000000000000000000" charset="0"/>
                <a:sym typeface="+mn-lt"/>
              </a:rPr>
              <a:t>Supervisor</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sym typeface="+mn-lt"/>
              </a:rPr>
              <a:t>:</a:t>
            </a:r>
            <a:r>
              <a:rPr lang="en-US" altLang="en-US" sz="1400" dirty="0">
                <a:solidFill>
                  <a:schemeClr val="tx1">
                    <a:lumMod val="75000"/>
                    <a:lumOff val="25000"/>
                  </a:schemeClr>
                </a:solidFill>
                <a:latin typeface="Roboto Light" panose="02000000000000000000" charset="0"/>
                <a:ea typeface="Roboto Light" panose="02000000000000000000" charset="0"/>
                <a:cs typeface="Roboto Light" panose="02000000000000000000" charset="0"/>
                <a:sym typeface="+mn-lt"/>
              </a:rPr>
              <a:t>	</a:t>
            </a:r>
            <a:r>
              <a:rPr lang="en-US" altLang="zh-CN" dirty="0">
                <a:solidFill>
                  <a:schemeClr val="tx1">
                    <a:lumMod val="75000"/>
                    <a:lumOff val="25000"/>
                  </a:schemeClr>
                </a:solidFill>
                <a:latin typeface="Roboto Light" panose="02000000000000000000" charset="0"/>
                <a:cs typeface="Roboto Light" panose="02000000000000000000" charset="0"/>
                <a:sym typeface="+mn-lt"/>
              </a:rPr>
              <a:t>Mrs. JDT Erandi </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		Lecturer (Probationary), </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		Dept of Data Science, </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		Faculty of Computing, </a:t>
            </a:r>
          </a:p>
          <a:p>
            <a:pPr algn="l">
              <a:buClrTx/>
              <a:buSzTx/>
              <a:buFontTx/>
            </a:pPr>
            <a:r>
              <a:rPr lang="en-US" altLang="zh-CN" dirty="0">
                <a:solidFill>
                  <a:schemeClr val="tx1">
                    <a:lumMod val="75000"/>
                    <a:lumOff val="25000"/>
                  </a:schemeClr>
                </a:solidFill>
                <a:latin typeface="Roboto Light" panose="02000000000000000000" charset="0"/>
                <a:cs typeface="Roboto Light" panose="02000000000000000000" charset="0"/>
                <a:sym typeface="+mn-lt"/>
              </a:rPr>
              <a:t>		Sabaragamuwa University of Sri Lanka</a:t>
            </a:r>
            <a:endParaRPr lang="zh-CN" altLang="en-US" dirty="0">
              <a:solidFill>
                <a:schemeClr val="tx1">
                  <a:lumMod val="75000"/>
                  <a:lumOff val="25000"/>
                </a:schemeClr>
              </a:solidFill>
              <a:latin typeface="Roboto Light" panose="02000000000000000000" charset="0"/>
              <a:cs typeface="Roboto Light" panose="02000000000000000000" charset="0"/>
              <a:sym typeface="+mn-lt"/>
            </a:endParaRPr>
          </a:p>
        </p:txBody>
      </p:sp>
      <p:pic>
        <p:nvPicPr>
          <p:cNvPr id="6" name="object 6"/>
          <p:cNvPicPr/>
          <p:nvPr/>
        </p:nvPicPr>
        <p:blipFill>
          <a:blip r:embed="rId4" cstate="print"/>
          <a:stretch>
            <a:fillRect/>
          </a:stretch>
        </p:blipFill>
        <p:spPr>
          <a:xfrm>
            <a:off x="7512050" y="693420"/>
            <a:ext cx="3872865" cy="1101090"/>
          </a:xfrm>
          <a:prstGeom prst="rect">
            <a:avLst/>
          </a:prstGeom>
        </p:spPr>
      </p:pic>
      <p:sp>
        <p:nvSpPr>
          <p:cNvPr id="3" name="object 3"/>
          <p:cNvSpPr txBox="1"/>
          <p:nvPr/>
        </p:nvSpPr>
        <p:spPr>
          <a:xfrm>
            <a:off x="202387" y="6495389"/>
            <a:ext cx="5502910" cy="288290"/>
          </a:xfrm>
          <a:prstGeom prst="rect">
            <a:avLst/>
          </a:prstGeom>
        </p:spPr>
        <p:txBody>
          <a:bodyPr vert="horz" wrap="square" lIns="0" tIns="11430" rIns="0" bIns="0" rtlCol="0">
            <a:spAutoFit/>
          </a:bodyPr>
          <a:lstStyle/>
          <a:p>
            <a:pPr marL="12700" algn="l">
              <a:lnSpc>
                <a:spcPct val="100000"/>
              </a:lnSpc>
              <a:spcBef>
                <a:spcPts val="90"/>
              </a:spcBef>
              <a:buClrTx/>
              <a:buSzTx/>
              <a:buFontTx/>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5" name="object 2"/>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文本框 55"/>
          <p:cNvSpPr txBox="1"/>
          <p:nvPr/>
        </p:nvSpPr>
        <p:spPr>
          <a:xfrm>
            <a:off x="259715" y="210820"/>
            <a:ext cx="3175635" cy="768350"/>
          </a:xfrm>
          <a:prstGeom prst="rect">
            <a:avLst/>
          </a:prstGeom>
          <a:noFill/>
        </p:spPr>
        <p:txBody>
          <a:bodyPr wrap="square" rtlCol="0" anchor="t">
            <a:spAutoFit/>
          </a:bodyPr>
          <a:lstStyle/>
          <a:p>
            <a:pPr lvl="0" algn="ctr">
              <a:buClrTx/>
              <a:buSzTx/>
              <a:buFontTx/>
            </a:pPr>
            <a:r>
              <a:rPr lang="zh-CN" altLang="en-US" sz="4400" dirty="0">
                <a:solidFill>
                  <a:srgbClr val="203864"/>
                </a:solidFill>
                <a:latin typeface="Times New Roman" panose="02020603050405020304" charset="0"/>
                <a:cs typeface="Times New Roman" panose="02020603050405020304" charset="0"/>
                <a:sym typeface="+mn-ea"/>
              </a:rPr>
              <a:t>CONTENTS</a:t>
            </a:r>
          </a:p>
        </p:txBody>
      </p:sp>
      <p:sp>
        <p:nvSpPr>
          <p:cNvPr id="30" name="文本框 29"/>
          <p:cNvSpPr txBox="1"/>
          <p:nvPr/>
        </p:nvSpPr>
        <p:spPr>
          <a:xfrm>
            <a:off x="1528445" y="4693920"/>
            <a:ext cx="481965" cy="536575"/>
          </a:xfrm>
          <a:prstGeom prst="rect">
            <a:avLst/>
          </a:prstGeom>
          <a:noFill/>
        </p:spPr>
        <p:txBody>
          <a:bodyPr wrap="square" rtlCol="0" anchor="t">
            <a:noAutofit/>
          </a:bodyPr>
          <a:lstStyle/>
          <a:p>
            <a:pPr lvl="0" algn="ctr">
              <a:buClrTx/>
              <a:buSzTx/>
              <a:buFontTx/>
            </a:pPr>
            <a:endParaRPr lang="en-US" altLang="zh-CN" sz="3600">
              <a:solidFill>
                <a:schemeClr val="bg1"/>
              </a:solidFill>
              <a:latin typeface="Roboto Black" panose="02000000000000000000" charset="0"/>
              <a:cs typeface="Roboto Black" panose="02000000000000000000" charset="0"/>
              <a:sym typeface="+mn-ea"/>
            </a:endParaRPr>
          </a:p>
        </p:txBody>
      </p:sp>
      <p:sp>
        <p:nvSpPr>
          <p:cNvPr id="3" name="object 3"/>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5" name="object 2"/>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7" name="object 6"/>
          <p:cNvPicPr/>
          <p:nvPr/>
        </p:nvPicPr>
        <p:blipFill>
          <a:blip r:embed="rId3" cstate="print"/>
          <a:stretch>
            <a:fillRect/>
          </a:stretch>
        </p:blipFill>
        <p:spPr>
          <a:xfrm>
            <a:off x="9952355" y="635"/>
            <a:ext cx="2239645" cy="711835"/>
          </a:xfrm>
          <a:prstGeom prst="rect">
            <a:avLst/>
          </a:prstGeom>
        </p:spPr>
      </p:pic>
      <p:sp>
        <p:nvSpPr>
          <p:cNvPr id="2" name="文本框 7">
            <a:extLst>
              <a:ext uri="{FF2B5EF4-FFF2-40B4-BE49-F238E27FC236}">
                <a16:creationId xmlns:a16="http://schemas.microsoft.com/office/drawing/2014/main" id="{60CEF7EB-085D-7058-F3EC-B618247DBD7A}"/>
              </a:ext>
            </a:extLst>
          </p:cNvPr>
          <p:cNvSpPr txBox="1"/>
          <p:nvPr/>
        </p:nvSpPr>
        <p:spPr>
          <a:xfrm>
            <a:off x="3435350" y="550792"/>
            <a:ext cx="6369957" cy="5756415"/>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1" indent="-342900" algn="l">
              <a:buClrTx/>
              <a:buSzTx/>
              <a:buFont typeface="Calibri" panose="020F0502020204030204" charset="0"/>
              <a:buChar char="①"/>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a:t>
            </a: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Background</a:t>
            </a: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0" lvl="1" indent="0" algn="l">
              <a:buClrTx/>
              <a:buSzTx/>
              <a:buFont typeface="Calibri" panose="020F0502020204030204" charset="0"/>
              <a:buNone/>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lgn="l">
              <a:buClrTx/>
              <a:buSzTx/>
              <a:buFont typeface="Calibri" panose="020F0502020204030204" charset="0"/>
              <a:buChar char="②"/>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Literature Review</a:t>
            </a:r>
          </a:p>
          <a:p>
            <a:pPr marL="342900" lvl="1" indent="-342900" algn="l">
              <a:buClrTx/>
              <a:buSzTx/>
              <a:buFont typeface="Calibri" panose="020F0502020204030204" charset="0"/>
              <a:buChar char="②"/>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lgn="l">
              <a:buClrTx/>
              <a:buSzTx/>
              <a:buFont typeface="Calibri" panose="020F0502020204030204" charset="0"/>
              <a:buChar char="③"/>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Research </a:t>
            </a: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Gap</a:t>
            </a:r>
          </a:p>
          <a:p>
            <a:pPr marL="342900" lvl="1" indent="-342900" algn="l">
              <a:buClrTx/>
              <a:buSzTx/>
              <a:buFont typeface="Calibri" panose="020F0502020204030204" charset="0"/>
              <a:buChar char="③"/>
            </a:pPr>
            <a:endPar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endParaRPr>
          </a:p>
          <a:p>
            <a:pPr marL="342900" lvl="1" indent="-342900" algn="l">
              <a:buClrTx/>
              <a:buSzTx/>
              <a:buFont typeface="Calibri" panose="020F0502020204030204" pitchFamily="34" charset="0"/>
              <a:buChar char="④"/>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Significance of the Research</a:t>
            </a:r>
          </a:p>
          <a:p>
            <a:pPr marL="0" lvl="1" algn="l">
              <a:buClrTx/>
              <a:buSzTx/>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buFont typeface="Calibri" panose="020F0502020204030204" charset="0"/>
              <a:buChar char="⑤"/>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Problem Statement &amp; Research Questions</a:t>
            </a:r>
          </a:p>
          <a:p>
            <a:pPr marL="0" lvl="1" algn="l">
              <a:buClrTx/>
              <a:buSzTx/>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buFont typeface="Calibri" panose="020F0502020204030204" charset="0"/>
              <a:buChar char="⑥"/>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Research Objectives &amp; Goals </a:t>
            </a:r>
          </a:p>
          <a:p>
            <a:pPr marL="0" lvl="1" algn="l">
              <a:buClrTx/>
              <a:buSzTx/>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buFont typeface="Calibri" panose="020F0502020204030204" charset="0"/>
              <a:buChar char="⑦"/>
            </a:pP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 Proposed Research Method/s</a:t>
            </a:r>
          </a:p>
          <a:p>
            <a:pPr marL="0" lvl="1" algn="l">
              <a:buClrTx/>
              <a:buSzTx/>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buFont typeface="Calibri" panose="020F0502020204030204" charset="0"/>
              <a:buChar char="⑧"/>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a:t>
            </a:r>
            <a:r>
              <a:rPr lang="en-US" altLang="zh-CN" sz="2200" dirty="0">
                <a:solidFill>
                  <a:srgbClr val="203864"/>
                </a:solidFill>
                <a:latin typeface="Roboto Black" panose="02000000000000000000" charset="0"/>
                <a:ea typeface="Roboto Light" panose="02000000000000000000" charset="0"/>
                <a:cs typeface="Roboto Black" panose="02000000000000000000" charset="0"/>
                <a:sym typeface="+mn-ea"/>
              </a:rPr>
              <a:t>Expected Outcome/s</a:t>
            </a:r>
          </a:p>
          <a:p>
            <a:pPr marL="0" lvl="1" algn="l">
              <a:buClrTx/>
              <a:buSzTx/>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a:p>
            <a:pPr marL="342900" lvl="1" indent="-342900" algn="l">
              <a:buClrTx/>
              <a:buSzTx/>
              <a:buFont typeface="Calibri" panose="020F0502020204030204" pitchFamily="34" charset="0"/>
              <a:buChar char="⑨"/>
            </a:pPr>
            <a:r>
              <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rPr>
              <a:t> References</a:t>
            </a:r>
          </a:p>
          <a:p>
            <a:pPr marL="342900" lvl="1" indent="-342900" algn="l">
              <a:buClrTx/>
              <a:buSzTx/>
              <a:buFont typeface="Calibri" panose="020F0502020204030204" charset="0"/>
              <a:buChar char="②"/>
            </a:pPr>
            <a:endParaRPr lang="en-US" altLang="zh-CN" sz="2200" dirty="0">
              <a:solidFill>
                <a:srgbClr val="203864"/>
              </a:solidFill>
              <a:uFillTx/>
              <a:latin typeface="Roboto Black" panose="02000000000000000000" charset="0"/>
              <a:ea typeface="Roboto Light" panose="02000000000000000000" charset="0"/>
              <a:cs typeface="Roboto Black" panose="02000000000000000000"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0675" y="200025"/>
            <a:ext cx="4711065"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background</a:t>
            </a:r>
          </a:p>
        </p:txBody>
      </p:sp>
      <p:sp>
        <p:nvSpPr>
          <p:cNvPr id="12" name="文本框 11"/>
          <p:cNvSpPr txBox="1"/>
          <p:nvPr/>
        </p:nvSpPr>
        <p:spPr>
          <a:xfrm>
            <a:off x="746449" y="1073397"/>
            <a:ext cx="11681927" cy="4317002"/>
          </a:xfrm>
          <a:prstGeom prst="rect">
            <a:avLst/>
          </a:prstGeom>
          <a:noFill/>
        </p:spPr>
        <p:txBody>
          <a:bodyPr wrap="square" rtlCol="0" anchor="t">
            <a:noAutofit/>
          </a:bodyPr>
          <a:lstStyle/>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User engagement is a key concern in Python software projects.</a:t>
            </a:r>
          </a:p>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Developers want to understand how users interact with features.</a:t>
            </a:r>
          </a:p>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Usage logs record valuable data: timestamps, session duration, errors.</a:t>
            </a:r>
          </a:p>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Most systems only provide past insights, not future predictions.</a:t>
            </a:r>
          </a:p>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Python tools like data science libraries show irregular usage (e.g., exam season spikes).</a:t>
            </a:r>
          </a:p>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Traditional models like regression often fail to capture time-based patterns.</a:t>
            </a:r>
          </a:p>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Time series models (e.g., ARIMA, LSTM) can detect trends and forecast behavior.</a:t>
            </a:r>
          </a:p>
          <a:p>
            <a:pPr marL="342900" indent="-342900" algn="just">
              <a:lnSpc>
                <a:spcPct val="15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This research focuses on predicting engagement using Python-based logs.</a:t>
            </a:r>
          </a:p>
          <a:p>
            <a:pPr algn="just">
              <a:lnSpc>
                <a:spcPct val="150000"/>
              </a:lnSpc>
              <a:spcBef>
                <a:spcPts val="0"/>
              </a:spcBef>
              <a:spcAft>
                <a:spcPts val="0"/>
              </a:spcAft>
            </a:pPr>
            <a:endParaRPr lang="en-US" altLang="zh-CN" sz="2200" dirty="0">
              <a:solidFill>
                <a:schemeClr val="tx1">
                  <a:lumMod val="75000"/>
                  <a:lumOff val="25000"/>
                </a:schemeClr>
              </a:solidFill>
              <a:latin typeface="Roboto Light" panose="02000000000000000000" charset="0"/>
              <a:cs typeface="Roboto Light" panose="02000000000000000000" charset="0"/>
              <a:sym typeface="+mn-ea"/>
            </a:endParaRPr>
          </a:p>
          <a:p>
            <a:pPr algn="just">
              <a:lnSpc>
                <a:spcPct val="150000"/>
              </a:lnSpc>
              <a:spcBef>
                <a:spcPts val="0"/>
              </a:spcBef>
              <a:spcAft>
                <a:spcPts val="0"/>
              </a:spcAft>
            </a:pPr>
            <a:r>
              <a:rPr lang="en-US" sz="2200" b="1" dirty="0">
                <a:latin typeface="Times New Roman" panose="02020603050405020304" pitchFamily="18" charset="0"/>
                <a:cs typeface="Times New Roman" panose="02020603050405020304" pitchFamily="18" charset="0"/>
              </a:rPr>
              <a:t>ARIMA</a:t>
            </a:r>
            <a:r>
              <a:rPr lang="en-US" sz="2200" dirty="0">
                <a:latin typeface="Times New Roman" panose="02020603050405020304" pitchFamily="18" charset="0"/>
                <a:cs typeface="Times New Roman" panose="02020603050405020304" pitchFamily="18" charset="0"/>
              </a:rPr>
              <a:t> (Autoregressive Integrated Moving Average) and </a:t>
            </a:r>
            <a:r>
              <a:rPr lang="en-US" sz="2200" b="1" dirty="0">
                <a:latin typeface="Times New Roman" panose="02020603050405020304" pitchFamily="18" charset="0"/>
                <a:cs typeface="Times New Roman" panose="02020603050405020304" pitchFamily="18" charset="0"/>
              </a:rPr>
              <a:t>LSTM</a:t>
            </a:r>
            <a:r>
              <a:rPr lang="en-US" sz="2200" dirty="0">
                <a:latin typeface="Times New Roman" panose="02020603050405020304" pitchFamily="18" charset="0"/>
                <a:cs typeface="Times New Roman" panose="02020603050405020304" pitchFamily="18" charset="0"/>
              </a:rPr>
              <a:t> (Long Short-Term Memory)</a:t>
            </a:r>
            <a:endParaRPr lang="en-US" altLang="zh-CN" sz="2200" dirty="0">
              <a:solidFill>
                <a:schemeClr val="tx1">
                  <a:lumMod val="75000"/>
                  <a:lumOff val="25000"/>
                </a:schemeClr>
              </a:solidFill>
              <a:latin typeface="Times New Roman" panose="02020603050405020304" pitchFamily="18" charset="0"/>
              <a:cs typeface="Times New Roman" panose="02020603050405020304" pitchFamily="18" charset="0"/>
              <a:sym typeface="+mn-ea"/>
            </a:endParaRPr>
          </a:p>
          <a:p>
            <a:pPr algn="just">
              <a:lnSpc>
                <a:spcPct val="150000"/>
              </a:lnSpc>
              <a:spcBef>
                <a:spcPts val="0"/>
              </a:spcBef>
              <a:spcAft>
                <a:spcPts val="0"/>
              </a:spcAft>
            </a:pPr>
            <a:endParaRPr lang="zh-CN" altLang="en-US" sz="22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p:cNvPicPr/>
          <p:nvPr/>
        </p:nvPicPr>
        <p:blipFill>
          <a:blip r:embed="rId3" cstate="print"/>
          <a:stretch>
            <a:fillRect/>
          </a:stretch>
        </p:blipFill>
        <p:spPr>
          <a:xfrm>
            <a:off x="9952355" y="635"/>
            <a:ext cx="2239645" cy="711835"/>
          </a:xfrm>
          <a:prstGeom prst="rect">
            <a:avLst/>
          </a:prstGeom>
        </p:spPr>
      </p:pic>
      <p:sp>
        <p:nvSpPr>
          <p:cNvPr id="23" name="object 2"/>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a:t>
            </a:r>
          </a:p>
        </p:txBody>
      </p:sp>
      <p:sp>
        <p:nvSpPr>
          <p:cNvPr id="10" name="object 3">
            <a:extLst>
              <a:ext uri="{FF2B5EF4-FFF2-40B4-BE49-F238E27FC236}">
                <a16:creationId xmlns:a16="http://schemas.microsoft.com/office/drawing/2014/main" id="{44D5091F-B56D-4DB8-B2CC-3D84FB8F0308}"/>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0675" y="219075"/>
            <a:ext cx="5916930"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sz="4400" dirty="0">
                <a:solidFill>
                  <a:srgbClr val="203864"/>
                </a:solidFill>
                <a:latin typeface="Times New Roman" panose="02020603050405020304" charset="0"/>
                <a:cs typeface="Times New Roman" panose="02020603050405020304" charset="0"/>
                <a:sym typeface="+mn-ea"/>
              </a:rPr>
              <a:t>LITERATURE REVIEW</a:t>
            </a:r>
            <a:endParaRPr lang="en-US"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12" name="文本框 11"/>
          <p:cNvSpPr txBox="1"/>
          <p:nvPr/>
        </p:nvSpPr>
        <p:spPr>
          <a:xfrm>
            <a:off x="597160" y="1006157"/>
            <a:ext cx="10977938" cy="4845685"/>
          </a:xfrm>
          <a:prstGeom prst="rect">
            <a:avLst/>
          </a:prstGeom>
          <a:noFill/>
        </p:spPr>
        <p:txBody>
          <a:bodyPr wrap="square" rtlCol="0" anchor="t">
            <a:noAutofit/>
          </a:bodyPr>
          <a:lstStyle>
            <a:defPPr>
              <a:defRPr lang="zh-CN"/>
            </a:defPPr>
            <a:lvl1pPr marL="342900" indent="-342900" algn="just">
              <a:lnSpc>
                <a:spcPct val="150000"/>
              </a:lnSpc>
              <a:spcBef>
                <a:spcPts val="0"/>
              </a:spcBef>
              <a:spcAft>
                <a:spcPts val="0"/>
              </a:spcAft>
              <a:buFont typeface="Arial" panose="020B0604020202020204" pitchFamily="34" charset="0"/>
              <a:buChar char="•"/>
              <a:defRPr sz="2200">
                <a:solidFill>
                  <a:schemeClr val="tx1">
                    <a:lumMod val="75000"/>
                    <a:lumOff val="25000"/>
                  </a:schemeClr>
                </a:solidFill>
                <a:latin typeface="Roboto Light" panose="02000000000000000000" charset="0"/>
                <a:cs typeface="Roboto Light" panose="02000000000000000000" charset="0"/>
              </a:defRPr>
            </a:lvl1pPr>
          </a:lstStyle>
          <a:p>
            <a:pPr>
              <a:lnSpc>
                <a:spcPct val="200000"/>
              </a:lnSpc>
            </a:pPr>
            <a:r>
              <a:rPr lang="en-US" altLang="zh-CN" dirty="0">
                <a:sym typeface="+mn-ea"/>
              </a:rPr>
              <a:t>Early studies used statistical models like ARIMA to capture engagement trends.</a:t>
            </a:r>
          </a:p>
          <a:p>
            <a:pPr>
              <a:lnSpc>
                <a:spcPct val="200000"/>
              </a:lnSpc>
            </a:pPr>
            <a:r>
              <a:rPr lang="en-US" altLang="zh-CN" dirty="0">
                <a:sym typeface="+mn-ea"/>
              </a:rPr>
              <a:t>ARIMA is effective for linear patterns but fails with complex behavior.</a:t>
            </a:r>
          </a:p>
          <a:p>
            <a:pPr>
              <a:lnSpc>
                <a:spcPct val="200000"/>
              </a:lnSpc>
            </a:pPr>
            <a:r>
              <a:rPr lang="en-US" altLang="zh-CN" dirty="0">
                <a:sym typeface="+mn-ea"/>
              </a:rPr>
              <a:t>LSTM (deep learning) handles nonlinear and long-term user behavior better.</a:t>
            </a:r>
          </a:p>
          <a:p>
            <a:pPr>
              <a:lnSpc>
                <a:spcPct val="200000"/>
              </a:lnSpc>
            </a:pPr>
            <a:r>
              <a:rPr lang="en-US" altLang="zh-CN" dirty="0">
                <a:sym typeface="+mn-ea"/>
              </a:rPr>
              <a:t>Hybrid models like Prophet-LSTM improve accuracy by combining both methods.</a:t>
            </a:r>
          </a:p>
          <a:p>
            <a:pPr>
              <a:lnSpc>
                <a:spcPct val="200000"/>
              </a:lnSpc>
            </a:pPr>
            <a:r>
              <a:rPr lang="en-US" altLang="zh-CN" dirty="0">
                <a:sym typeface="+mn-ea"/>
              </a:rPr>
              <a:t>Python ecosystem (Prophet, TensorFlow, FastAPI) supports full forecasting pipelines.</a:t>
            </a:r>
          </a:p>
          <a:p>
            <a:pPr>
              <a:lnSpc>
                <a:spcPct val="200000"/>
              </a:lnSpc>
            </a:pPr>
            <a:r>
              <a:rPr lang="en-US" altLang="zh-CN" dirty="0">
                <a:sym typeface="+mn-ea"/>
              </a:rPr>
              <a:t>Most research focuses on mobile apps or social platforms, not Python tools.</a:t>
            </a:r>
          </a:p>
          <a:p>
            <a:pPr>
              <a:lnSpc>
                <a:spcPct val="200000"/>
              </a:lnSpc>
            </a:pPr>
            <a:r>
              <a:rPr lang="en-US" altLang="zh-CN" dirty="0">
                <a:sym typeface="+mn-ea"/>
              </a:rPr>
              <a:t>Few studies address bursty, irregular usage in developer-focused apps.</a:t>
            </a:r>
          </a:p>
          <a:p>
            <a:pPr>
              <a:lnSpc>
                <a:spcPct val="200000"/>
              </a:lnSpc>
            </a:pPr>
            <a:endParaRPr lang="zh-CN" altLang="en-US" dirty="0">
              <a:sym typeface="+mn-ea"/>
            </a:endParaRPr>
          </a:p>
        </p:txBody>
      </p:sp>
      <p:sp>
        <p:nvSpPr>
          <p:cNvPr id="5" name="object 2"/>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sp>
        <p:nvSpPr>
          <p:cNvPr id="6" name="object 3"/>
          <p:cNvSpPr txBox="1"/>
          <p:nvPr/>
        </p:nvSpPr>
        <p:spPr>
          <a:xfrm>
            <a:off x="202387" y="6495389"/>
            <a:ext cx="5502910" cy="288290"/>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pic>
        <p:nvPicPr>
          <p:cNvPr id="8" name="object 6"/>
          <p:cNvPicPr/>
          <p:nvPr/>
        </p:nvPicPr>
        <p:blipFill>
          <a:blip r:embed="rId3" cstate="print"/>
          <a:stretch>
            <a:fillRect/>
          </a:stretch>
        </p:blipFill>
        <p:spPr>
          <a:xfrm>
            <a:off x="9952355" y="635"/>
            <a:ext cx="2239645" cy="711835"/>
          </a:xfrm>
          <a:prstGeom prst="rect">
            <a:avLst/>
          </a:prstGeom>
        </p:spPr>
      </p:pic>
      <p:sp>
        <p:nvSpPr>
          <p:cNvPr id="23" name="object 2"/>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C57C0-CF22-CACD-2933-9A6FCF47813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AF9FA34-2407-418B-D0DF-6DAEC67FA19A}"/>
              </a:ext>
            </a:extLst>
          </p:cNvPr>
          <p:cNvSpPr txBox="1"/>
          <p:nvPr/>
        </p:nvSpPr>
        <p:spPr>
          <a:xfrm>
            <a:off x="320675" y="219075"/>
            <a:ext cx="5916930"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sz="4400" dirty="0">
                <a:solidFill>
                  <a:srgbClr val="203864"/>
                </a:solidFill>
                <a:latin typeface="Times New Roman" panose="02020603050405020304" charset="0"/>
                <a:cs typeface="Times New Roman" panose="02020603050405020304" charset="0"/>
                <a:sym typeface="+mn-ea"/>
              </a:rPr>
              <a:t>LITERATURE REVIEW</a:t>
            </a:r>
            <a:endParaRPr lang="en-US"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5" name="object 2">
            <a:extLst>
              <a:ext uri="{FF2B5EF4-FFF2-40B4-BE49-F238E27FC236}">
                <a16:creationId xmlns:a16="http://schemas.microsoft.com/office/drawing/2014/main" id="{B261080F-9111-9FB5-404F-F5CA818ACE8E}"/>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sp>
        <p:nvSpPr>
          <p:cNvPr id="6" name="object 3">
            <a:extLst>
              <a:ext uri="{FF2B5EF4-FFF2-40B4-BE49-F238E27FC236}">
                <a16:creationId xmlns:a16="http://schemas.microsoft.com/office/drawing/2014/main" id="{3BAA4715-8E84-01DF-BFF3-ADC4F028CCE1}"/>
              </a:ext>
            </a:extLst>
          </p:cNvPr>
          <p:cNvSpPr txBox="1"/>
          <p:nvPr/>
        </p:nvSpPr>
        <p:spPr>
          <a:xfrm>
            <a:off x="202387" y="6495389"/>
            <a:ext cx="5502910" cy="288290"/>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pic>
        <p:nvPicPr>
          <p:cNvPr id="8" name="object 6">
            <a:extLst>
              <a:ext uri="{FF2B5EF4-FFF2-40B4-BE49-F238E27FC236}">
                <a16:creationId xmlns:a16="http://schemas.microsoft.com/office/drawing/2014/main" id="{0CE332C8-55D2-478A-1E17-8076CED06B09}"/>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961AA153-5290-E299-02B1-8900F2C117DB}"/>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3</a:t>
            </a:r>
          </a:p>
        </p:txBody>
      </p:sp>
      <p:sp>
        <p:nvSpPr>
          <p:cNvPr id="4" name="TextBox 3">
            <a:extLst>
              <a:ext uri="{FF2B5EF4-FFF2-40B4-BE49-F238E27FC236}">
                <a16:creationId xmlns:a16="http://schemas.microsoft.com/office/drawing/2014/main" id="{684C0CF3-8DF8-9B89-F3E1-DD8C9E05A5F2}"/>
              </a:ext>
            </a:extLst>
          </p:cNvPr>
          <p:cNvSpPr txBox="1"/>
          <p:nvPr/>
        </p:nvSpPr>
        <p:spPr>
          <a:xfrm>
            <a:off x="4654708" y="5960901"/>
            <a:ext cx="3165793" cy="307777"/>
          </a:xfrm>
          <a:prstGeom prst="rect">
            <a:avLst/>
          </a:prstGeom>
          <a:noFill/>
        </p:spPr>
        <p:txBody>
          <a:bodyPr wrap="square" rtlCol="0">
            <a:spAutoFit/>
          </a:bodyPr>
          <a:lstStyle/>
          <a:p>
            <a:r>
              <a:rPr lang="en-US" sz="1400" i="1" dirty="0"/>
              <a:t>Figure 1 : Literature Review</a:t>
            </a:r>
          </a:p>
        </p:txBody>
      </p:sp>
      <p:graphicFrame>
        <p:nvGraphicFramePr>
          <p:cNvPr id="7" name="Table 6">
            <a:extLst>
              <a:ext uri="{FF2B5EF4-FFF2-40B4-BE49-F238E27FC236}">
                <a16:creationId xmlns:a16="http://schemas.microsoft.com/office/drawing/2014/main" id="{87ACB95A-95A3-1467-BB61-CE62F9DD30D4}"/>
              </a:ext>
            </a:extLst>
          </p:cNvPr>
          <p:cNvGraphicFramePr>
            <a:graphicFrameLocks noGrp="1"/>
          </p:cNvGraphicFramePr>
          <p:nvPr>
            <p:extLst>
              <p:ext uri="{D42A27DB-BD31-4B8C-83A1-F6EECF244321}">
                <p14:modId xmlns:p14="http://schemas.microsoft.com/office/powerpoint/2010/main" val="555779624"/>
              </p:ext>
            </p:extLst>
          </p:nvPr>
        </p:nvGraphicFramePr>
        <p:xfrm>
          <a:off x="320675" y="1053198"/>
          <a:ext cx="11550650" cy="4841930"/>
        </p:xfrm>
        <a:graphic>
          <a:graphicData uri="http://schemas.openxmlformats.org/drawingml/2006/table">
            <a:tbl>
              <a:tblPr firstRow="1" bandRow="1">
                <a:tableStyleId>{5C22544A-7EE6-4342-B048-85BDC9FD1C3A}</a:tableStyleId>
              </a:tblPr>
              <a:tblGrid>
                <a:gridCol w="1026724">
                  <a:extLst>
                    <a:ext uri="{9D8B030D-6E8A-4147-A177-3AD203B41FA5}">
                      <a16:colId xmlns:a16="http://schemas.microsoft.com/office/drawing/2014/main" val="3147385815"/>
                    </a:ext>
                  </a:extLst>
                </a:gridCol>
                <a:gridCol w="1925108">
                  <a:extLst>
                    <a:ext uri="{9D8B030D-6E8A-4147-A177-3AD203B41FA5}">
                      <a16:colId xmlns:a16="http://schemas.microsoft.com/office/drawing/2014/main" val="2260989332"/>
                    </a:ext>
                  </a:extLst>
                </a:gridCol>
                <a:gridCol w="2566811">
                  <a:extLst>
                    <a:ext uri="{9D8B030D-6E8A-4147-A177-3AD203B41FA5}">
                      <a16:colId xmlns:a16="http://schemas.microsoft.com/office/drawing/2014/main" val="615464243"/>
                    </a:ext>
                  </a:extLst>
                </a:gridCol>
                <a:gridCol w="3208514">
                  <a:extLst>
                    <a:ext uri="{9D8B030D-6E8A-4147-A177-3AD203B41FA5}">
                      <a16:colId xmlns:a16="http://schemas.microsoft.com/office/drawing/2014/main" val="3416081197"/>
                    </a:ext>
                  </a:extLst>
                </a:gridCol>
                <a:gridCol w="2823493">
                  <a:extLst>
                    <a:ext uri="{9D8B030D-6E8A-4147-A177-3AD203B41FA5}">
                      <a16:colId xmlns:a16="http://schemas.microsoft.com/office/drawing/2014/main" val="741049815"/>
                    </a:ext>
                  </a:extLst>
                </a:gridCol>
              </a:tblGrid>
              <a:tr h="407090">
                <a:tc>
                  <a:txBody>
                    <a:bodyPr/>
                    <a:lstStyle/>
                    <a:p>
                      <a:pPr algn="l">
                        <a:defRPr sz="1000" b="1">
                          <a:solidFill>
                            <a:srgbClr val="FFFFFF"/>
                          </a:solidFill>
                        </a:defRPr>
                      </a:pPr>
                      <a:r>
                        <a:rPr sz="1500" dirty="0"/>
                        <a:t>Ref No.</a:t>
                      </a:r>
                    </a:p>
                  </a:txBody>
                  <a:tcPr>
                    <a:solidFill>
                      <a:srgbClr val="0066CC"/>
                    </a:solidFill>
                  </a:tcPr>
                </a:tc>
                <a:tc>
                  <a:txBody>
                    <a:bodyPr/>
                    <a:lstStyle/>
                    <a:p>
                      <a:pPr algn="l">
                        <a:defRPr sz="1000" b="1">
                          <a:solidFill>
                            <a:srgbClr val="FFFFFF"/>
                          </a:solidFill>
                        </a:defRPr>
                      </a:pPr>
                      <a:r>
                        <a:rPr sz="1500" dirty="0"/>
                        <a:t>Researcher(s)</a:t>
                      </a:r>
                    </a:p>
                  </a:txBody>
                  <a:tcPr>
                    <a:solidFill>
                      <a:srgbClr val="0066CC"/>
                    </a:solidFill>
                  </a:tcPr>
                </a:tc>
                <a:tc>
                  <a:txBody>
                    <a:bodyPr/>
                    <a:lstStyle/>
                    <a:p>
                      <a:pPr algn="l">
                        <a:defRPr sz="1000" b="1">
                          <a:solidFill>
                            <a:srgbClr val="FFFFFF"/>
                          </a:solidFill>
                        </a:defRPr>
                      </a:pPr>
                      <a:r>
                        <a:rPr sz="1500" dirty="0"/>
                        <a:t>Objective</a:t>
                      </a:r>
                    </a:p>
                  </a:txBody>
                  <a:tcPr>
                    <a:solidFill>
                      <a:srgbClr val="0066CC"/>
                    </a:solidFill>
                  </a:tcPr>
                </a:tc>
                <a:tc>
                  <a:txBody>
                    <a:bodyPr/>
                    <a:lstStyle/>
                    <a:p>
                      <a:pPr algn="l">
                        <a:defRPr sz="1000" b="1">
                          <a:solidFill>
                            <a:srgbClr val="FFFFFF"/>
                          </a:solidFill>
                        </a:defRPr>
                      </a:pPr>
                      <a:r>
                        <a:rPr sz="1500" dirty="0"/>
                        <a:t>Methodology (incl. dataset/tools)</a:t>
                      </a:r>
                    </a:p>
                  </a:txBody>
                  <a:tcPr>
                    <a:solidFill>
                      <a:srgbClr val="0066CC"/>
                    </a:solidFill>
                  </a:tcPr>
                </a:tc>
                <a:tc>
                  <a:txBody>
                    <a:bodyPr/>
                    <a:lstStyle/>
                    <a:p>
                      <a:pPr algn="l">
                        <a:defRPr sz="1000" b="1">
                          <a:solidFill>
                            <a:srgbClr val="FFFFFF"/>
                          </a:solidFill>
                        </a:defRPr>
                      </a:pPr>
                      <a:r>
                        <a:rPr sz="1500" dirty="0"/>
                        <a:t>Limitations</a:t>
                      </a:r>
                    </a:p>
                  </a:txBody>
                  <a:tcPr>
                    <a:solidFill>
                      <a:srgbClr val="0066CC"/>
                    </a:solidFill>
                  </a:tcPr>
                </a:tc>
                <a:extLst>
                  <a:ext uri="{0D108BD9-81ED-4DB2-BD59-A6C34878D82A}">
                    <a16:rowId xmlns:a16="http://schemas.microsoft.com/office/drawing/2014/main" val="2498364332"/>
                  </a:ext>
                </a:extLst>
              </a:tr>
              <a:tr h="537360">
                <a:tc>
                  <a:txBody>
                    <a:bodyPr/>
                    <a:lstStyle/>
                    <a:p>
                      <a:pPr algn="l">
                        <a:defRPr sz="1000"/>
                      </a:pPr>
                      <a:r>
                        <a:rPr sz="1500" dirty="0"/>
                        <a:t>[</a:t>
                      </a:r>
                      <a:r>
                        <a:rPr lang="en-US" sz="1500" dirty="0"/>
                        <a:t>1</a:t>
                      </a:r>
                      <a:r>
                        <a:rPr sz="1500" dirty="0"/>
                        <a:t>]</a:t>
                      </a:r>
                    </a:p>
                  </a:txBody>
                  <a:tcPr/>
                </a:tc>
                <a:tc>
                  <a:txBody>
                    <a:bodyPr/>
                    <a:lstStyle/>
                    <a:p>
                      <a:pPr algn="l">
                        <a:defRPr sz="1000"/>
                      </a:pPr>
                      <a:r>
                        <a:rPr sz="1500" dirty="0"/>
                        <a:t>Liu et al. (2019)</a:t>
                      </a:r>
                    </a:p>
                  </a:txBody>
                  <a:tcPr/>
                </a:tc>
                <a:tc>
                  <a:txBody>
                    <a:bodyPr/>
                    <a:lstStyle/>
                    <a:p>
                      <a:pPr algn="l">
                        <a:defRPr sz="1000"/>
                      </a:pPr>
                      <a:r>
                        <a:rPr sz="1500"/>
                        <a:t>Forecast user engagement using in-app action graphs (Snapchat)</a:t>
                      </a:r>
                    </a:p>
                  </a:txBody>
                  <a:tcPr/>
                </a:tc>
                <a:tc>
                  <a:txBody>
                    <a:bodyPr/>
                    <a:lstStyle/>
                    <a:p>
                      <a:pPr algn="l">
                        <a:defRPr sz="1000"/>
                      </a:pPr>
                      <a:r>
                        <a:rPr sz="1500"/>
                        <a:t>Action graphs; real-time activity modeling; Snapchat data</a:t>
                      </a:r>
                    </a:p>
                  </a:txBody>
                  <a:tcPr/>
                </a:tc>
                <a:tc>
                  <a:txBody>
                    <a:bodyPr/>
                    <a:lstStyle/>
                    <a:p>
                      <a:pPr algn="l">
                        <a:defRPr sz="1000"/>
                      </a:pPr>
                      <a:r>
                        <a:rPr sz="1500"/>
                        <a:t>Focused on social media, not developer or Python-based tools</a:t>
                      </a:r>
                    </a:p>
                  </a:txBody>
                  <a:tcPr/>
                </a:tc>
                <a:extLst>
                  <a:ext uri="{0D108BD9-81ED-4DB2-BD59-A6C34878D82A}">
                    <a16:rowId xmlns:a16="http://schemas.microsoft.com/office/drawing/2014/main" val="3481079094"/>
                  </a:ext>
                </a:extLst>
              </a:tr>
              <a:tr h="537360">
                <a:tc>
                  <a:txBody>
                    <a:bodyPr/>
                    <a:lstStyle/>
                    <a:p>
                      <a:pPr algn="l">
                        <a:defRPr sz="1000"/>
                      </a:pPr>
                      <a:r>
                        <a:rPr sz="1500" dirty="0"/>
                        <a:t>[2]</a:t>
                      </a:r>
                    </a:p>
                  </a:txBody>
                  <a:tcPr/>
                </a:tc>
                <a:tc>
                  <a:txBody>
                    <a:bodyPr/>
                    <a:lstStyle/>
                    <a:p>
                      <a:pPr algn="l">
                        <a:defRPr sz="1000"/>
                      </a:pPr>
                      <a:r>
                        <a:rPr sz="1500" dirty="0"/>
                        <a:t>Kong et al. (2021)</a:t>
                      </a:r>
                    </a:p>
                  </a:txBody>
                  <a:tcPr/>
                </a:tc>
                <a:tc>
                  <a:txBody>
                    <a:bodyPr/>
                    <a:lstStyle/>
                    <a:p>
                      <a:pPr algn="l">
                        <a:defRPr sz="1000"/>
                      </a:pPr>
                      <a:r>
                        <a:rPr sz="1500"/>
                        <a:t>Hybrid forecasting using Prophet and LSTM</a:t>
                      </a:r>
                    </a:p>
                  </a:txBody>
                  <a:tcPr/>
                </a:tc>
                <a:tc>
                  <a:txBody>
                    <a:bodyPr/>
                    <a:lstStyle/>
                    <a:p>
                      <a:pPr algn="l">
                        <a:defRPr sz="1000"/>
                      </a:pPr>
                      <a:r>
                        <a:rPr sz="1500"/>
                        <a:t>Prophet for seasonal trend + LSTM for residuals; real-world time series data</a:t>
                      </a:r>
                    </a:p>
                  </a:txBody>
                  <a:tcPr/>
                </a:tc>
                <a:tc>
                  <a:txBody>
                    <a:bodyPr/>
                    <a:lstStyle/>
                    <a:p>
                      <a:pPr algn="l">
                        <a:defRPr sz="1000"/>
                      </a:pPr>
                      <a:r>
                        <a:rPr sz="1500"/>
                        <a:t>Lacks application in domain-specific Python tools or irregular patterns</a:t>
                      </a:r>
                    </a:p>
                  </a:txBody>
                  <a:tcPr/>
                </a:tc>
                <a:extLst>
                  <a:ext uri="{0D108BD9-81ED-4DB2-BD59-A6C34878D82A}">
                    <a16:rowId xmlns:a16="http://schemas.microsoft.com/office/drawing/2014/main" val="2342550516"/>
                  </a:ext>
                </a:extLst>
              </a:tr>
              <a:tr h="408174">
                <a:tc>
                  <a:txBody>
                    <a:bodyPr/>
                    <a:lstStyle/>
                    <a:p>
                      <a:pPr algn="l">
                        <a:defRPr sz="1000"/>
                      </a:pPr>
                      <a:r>
                        <a:rPr sz="1500" dirty="0"/>
                        <a:t>[3]</a:t>
                      </a:r>
                    </a:p>
                  </a:txBody>
                  <a:tcPr/>
                </a:tc>
                <a:tc>
                  <a:txBody>
                    <a:bodyPr/>
                    <a:lstStyle/>
                    <a:p>
                      <a:pPr algn="l">
                        <a:defRPr sz="1000"/>
                      </a:pPr>
                      <a:r>
                        <a:rPr sz="1500" dirty="0"/>
                        <a:t>Liu &amp; Wang (2024)</a:t>
                      </a:r>
                    </a:p>
                  </a:txBody>
                  <a:tcPr/>
                </a:tc>
                <a:tc>
                  <a:txBody>
                    <a:bodyPr/>
                    <a:lstStyle/>
                    <a:p>
                      <a:pPr algn="l">
                        <a:defRPr sz="1000"/>
                      </a:pPr>
                      <a:r>
                        <a:rPr sz="1500"/>
                        <a:t>Survey of deep learning in time series forecasting</a:t>
                      </a:r>
                    </a:p>
                  </a:txBody>
                  <a:tcPr/>
                </a:tc>
                <a:tc>
                  <a:txBody>
                    <a:bodyPr/>
                    <a:lstStyle/>
                    <a:p>
                      <a:pPr algn="l">
                        <a:defRPr sz="1000"/>
                      </a:pPr>
                      <a:r>
                        <a:rPr sz="1500"/>
                        <a:t>Overview of LSTM, GRU, Transformer use in TSF</a:t>
                      </a:r>
                    </a:p>
                  </a:txBody>
                  <a:tcPr/>
                </a:tc>
                <a:tc>
                  <a:txBody>
                    <a:bodyPr/>
                    <a:lstStyle/>
                    <a:p>
                      <a:pPr algn="l">
                        <a:defRPr sz="1000"/>
                      </a:pPr>
                      <a:r>
                        <a:rPr sz="1500"/>
                        <a:t>Generalized survey — no focus on engagement or Python apps</a:t>
                      </a:r>
                    </a:p>
                  </a:txBody>
                  <a:tcPr/>
                </a:tc>
                <a:extLst>
                  <a:ext uri="{0D108BD9-81ED-4DB2-BD59-A6C34878D82A}">
                    <a16:rowId xmlns:a16="http://schemas.microsoft.com/office/drawing/2014/main" val="2014456432"/>
                  </a:ext>
                </a:extLst>
              </a:tr>
              <a:tr h="537360">
                <a:tc>
                  <a:txBody>
                    <a:bodyPr/>
                    <a:lstStyle/>
                    <a:p>
                      <a:pPr algn="l">
                        <a:defRPr sz="1000"/>
                      </a:pPr>
                      <a:r>
                        <a:rPr sz="1500" dirty="0"/>
                        <a:t>[</a:t>
                      </a:r>
                      <a:r>
                        <a:rPr lang="en-US" sz="1500" dirty="0"/>
                        <a:t>4</a:t>
                      </a:r>
                      <a:r>
                        <a:rPr sz="1500" dirty="0"/>
                        <a:t>]</a:t>
                      </a:r>
                    </a:p>
                  </a:txBody>
                  <a:tcPr/>
                </a:tc>
                <a:tc>
                  <a:txBody>
                    <a:bodyPr/>
                    <a:lstStyle/>
                    <a:p>
                      <a:pPr algn="l">
                        <a:defRPr sz="1000"/>
                      </a:pPr>
                      <a:r>
                        <a:rPr sz="1500" dirty="0"/>
                        <a:t>Jin et al. (2024)</a:t>
                      </a:r>
                    </a:p>
                  </a:txBody>
                  <a:tcPr/>
                </a:tc>
                <a:tc>
                  <a:txBody>
                    <a:bodyPr/>
                    <a:lstStyle/>
                    <a:p>
                      <a:pPr algn="l">
                        <a:defRPr sz="1000"/>
                      </a:pPr>
                      <a:r>
                        <a:rPr sz="1500" dirty="0"/>
                        <a:t>Review of GNNs in time series</a:t>
                      </a:r>
                    </a:p>
                  </a:txBody>
                  <a:tcPr/>
                </a:tc>
                <a:tc>
                  <a:txBody>
                    <a:bodyPr/>
                    <a:lstStyle/>
                    <a:p>
                      <a:pPr algn="l">
                        <a:defRPr sz="1000"/>
                      </a:pPr>
                      <a:r>
                        <a:rPr sz="1500"/>
                        <a:t>Survey; categorized use cases of GNNs</a:t>
                      </a:r>
                    </a:p>
                  </a:txBody>
                  <a:tcPr/>
                </a:tc>
                <a:tc>
                  <a:txBody>
                    <a:bodyPr/>
                    <a:lstStyle/>
                    <a:p>
                      <a:pPr algn="l">
                        <a:defRPr sz="1000"/>
                      </a:pPr>
                      <a:r>
                        <a:rPr sz="1500"/>
                        <a:t>GNNs require large, structured data — not ideal for small-scale Python logs</a:t>
                      </a:r>
                    </a:p>
                  </a:txBody>
                  <a:tcPr/>
                </a:tc>
                <a:extLst>
                  <a:ext uri="{0D108BD9-81ED-4DB2-BD59-A6C34878D82A}">
                    <a16:rowId xmlns:a16="http://schemas.microsoft.com/office/drawing/2014/main" val="1336952707"/>
                  </a:ext>
                </a:extLst>
              </a:tr>
              <a:tr h="537360">
                <a:tc>
                  <a:txBody>
                    <a:bodyPr/>
                    <a:lstStyle/>
                    <a:p>
                      <a:pPr algn="l">
                        <a:defRPr sz="1000"/>
                      </a:pPr>
                      <a:r>
                        <a:rPr sz="1500" dirty="0"/>
                        <a:t>[</a:t>
                      </a:r>
                      <a:r>
                        <a:rPr lang="en-US" sz="1500" dirty="0"/>
                        <a:t>5</a:t>
                      </a:r>
                      <a:r>
                        <a:rPr sz="1500" dirty="0"/>
                        <a:t>]</a:t>
                      </a:r>
                    </a:p>
                  </a:txBody>
                  <a:tcPr/>
                </a:tc>
                <a:tc>
                  <a:txBody>
                    <a:bodyPr/>
                    <a:lstStyle/>
                    <a:p>
                      <a:pPr algn="l">
                        <a:defRPr sz="1000"/>
                      </a:pPr>
                      <a:r>
                        <a:rPr sz="1500"/>
                        <a:t>Stromer et al. (2024)</a:t>
                      </a:r>
                    </a:p>
                  </a:txBody>
                  <a:tcPr/>
                </a:tc>
                <a:tc>
                  <a:txBody>
                    <a:bodyPr/>
                    <a:lstStyle/>
                    <a:p>
                      <a:pPr algn="l">
                        <a:defRPr sz="1000"/>
                      </a:pPr>
                      <a:r>
                        <a:rPr sz="1500" dirty="0"/>
                        <a:t>Design forecasting tools for non-experts</a:t>
                      </a:r>
                    </a:p>
                  </a:txBody>
                  <a:tcPr/>
                </a:tc>
                <a:tc>
                  <a:txBody>
                    <a:bodyPr/>
                    <a:lstStyle/>
                    <a:p>
                      <a:pPr algn="l">
                        <a:defRPr sz="1000"/>
                      </a:pPr>
                      <a:r>
                        <a:rPr sz="1500" dirty="0"/>
                        <a:t>Human-readable forecasting systems; model explainability</a:t>
                      </a:r>
                    </a:p>
                  </a:txBody>
                  <a:tcPr/>
                </a:tc>
                <a:tc>
                  <a:txBody>
                    <a:bodyPr/>
                    <a:lstStyle/>
                    <a:p>
                      <a:pPr algn="l">
                        <a:defRPr sz="1000"/>
                      </a:pPr>
                      <a:r>
                        <a:rPr sz="1500"/>
                        <a:t>High-level framework; lacks technical focus on engagement prediction</a:t>
                      </a:r>
                    </a:p>
                  </a:txBody>
                  <a:tcPr/>
                </a:tc>
                <a:extLst>
                  <a:ext uri="{0D108BD9-81ED-4DB2-BD59-A6C34878D82A}">
                    <a16:rowId xmlns:a16="http://schemas.microsoft.com/office/drawing/2014/main" val="2054814207"/>
                  </a:ext>
                </a:extLst>
              </a:tr>
              <a:tr h="537360">
                <a:tc>
                  <a:txBody>
                    <a:bodyPr/>
                    <a:lstStyle/>
                    <a:p>
                      <a:pPr algn="l">
                        <a:defRPr sz="1000"/>
                      </a:pPr>
                      <a:r>
                        <a:rPr sz="1500" dirty="0"/>
                        <a:t>[</a:t>
                      </a:r>
                      <a:r>
                        <a:rPr lang="en-US" sz="1500" dirty="0"/>
                        <a:t>6</a:t>
                      </a:r>
                      <a:r>
                        <a:rPr sz="1500" dirty="0"/>
                        <a:t>]</a:t>
                      </a:r>
                    </a:p>
                  </a:txBody>
                  <a:tcPr/>
                </a:tc>
                <a:tc>
                  <a:txBody>
                    <a:bodyPr/>
                    <a:lstStyle/>
                    <a:p>
                      <a:pPr algn="l">
                        <a:defRPr sz="1000"/>
                      </a:pPr>
                      <a:r>
                        <a:rPr sz="1500"/>
                        <a:t>Tang et al. (2020)</a:t>
                      </a:r>
                    </a:p>
                  </a:txBody>
                  <a:tcPr/>
                </a:tc>
                <a:tc>
                  <a:txBody>
                    <a:bodyPr/>
                    <a:lstStyle/>
                    <a:p>
                      <a:pPr algn="l">
                        <a:defRPr sz="1000"/>
                      </a:pPr>
                      <a:r>
                        <a:rPr sz="1500" dirty="0"/>
                        <a:t>User engagement prediction on social apps (FATE Framework)</a:t>
                      </a:r>
                    </a:p>
                  </a:txBody>
                  <a:tcPr/>
                </a:tc>
                <a:tc>
                  <a:txBody>
                    <a:bodyPr/>
                    <a:lstStyle/>
                    <a:p>
                      <a:pPr algn="l">
                        <a:defRPr sz="1000"/>
                      </a:pPr>
                      <a:r>
                        <a:rPr sz="1500" dirty="0"/>
                        <a:t>Friendship + user actions + temporal explanations using GNNs and LSTMs</a:t>
                      </a:r>
                    </a:p>
                  </a:txBody>
                  <a:tcPr/>
                </a:tc>
                <a:tc>
                  <a:txBody>
                    <a:bodyPr/>
                    <a:lstStyle/>
                    <a:p>
                      <a:pPr algn="l">
                        <a:defRPr sz="1000"/>
                      </a:pPr>
                      <a:r>
                        <a:rPr sz="1500" dirty="0"/>
                        <a:t>Built for social networks; not applicable for batch-based Python usage logs</a:t>
                      </a:r>
                    </a:p>
                  </a:txBody>
                  <a:tcPr/>
                </a:tc>
                <a:extLst>
                  <a:ext uri="{0D108BD9-81ED-4DB2-BD59-A6C34878D82A}">
                    <a16:rowId xmlns:a16="http://schemas.microsoft.com/office/drawing/2014/main" val="1350506766"/>
                  </a:ext>
                </a:extLst>
              </a:tr>
            </a:tbl>
          </a:graphicData>
        </a:graphic>
      </p:graphicFrame>
    </p:spTree>
    <p:extLst>
      <p:ext uri="{BB962C8B-B14F-4D97-AF65-F5344CB8AC3E}">
        <p14:creationId xmlns:p14="http://schemas.microsoft.com/office/powerpoint/2010/main" val="2163133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B14CB-95D4-A121-7253-F581074141B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961DD0C-ED1A-0BA3-B73C-BC3CCDE94A81}"/>
              </a:ext>
            </a:extLst>
          </p:cNvPr>
          <p:cNvSpPr txBox="1"/>
          <p:nvPr/>
        </p:nvSpPr>
        <p:spPr>
          <a:xfrm>
            <a:off x="320675" y="219075"/>
            <a:ext cx="5916930"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sz="4400" dirty="0">
                <a:solidFill>
                  <a:srgbClr val="203864"/>
                </a:solidFill>
                <a:latin typeface="Times New Roman" panose="02020603050405020304" charset="0"/>
                <a:cs typeface="Times New Roman" panose="02020603050405020304" charset="0"/>
                <a:sym typeface="+mn-ea"/>
              </a:rPr>
              <a:t>LITERATURE REVIEW</a:t>
            </a:r>
            <a:endParaRPr lang="en-US"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endParaRPr>
          </a:p>
        </p:txBody>
      </p:sp>
      <p:sp>
        <p:nvSpPr>
          <p:cNvPr id="5" name="object 2">
            <a:extLst>
              <a:ext uri="{FF2B5EF4-FFF2-40B4-BE49-F238E27FC236}">
                <a16:creationId xmlns:a16="http://schemas.microsoft.com/office/drawing/2014/main" id="{C80608B3-E9DA-5B0B-3D8D-EDD5C0A6E042}"/>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sp>
        <p:nvSpPr>
          <p:cNvPr id="6" name="object 3">
            <a:extLst>
              <a:ext uri="{FF2B5EF4-FFF2-40B4-BE49-F238E27FC236}">
                <a16:creationId xmlns:a16="http://schemas.microsoft.com/office/drawing/2014/main" id="{9458A38B-1EE5-DF0B-F65E-4D8C144A19CA}"/>
              </a:ext>
            </a:extLst>
          </p:cNvPr>
          <p:cNvSpPr txBox="1"/>
          <p:nvPr/>
        </p:nvSpPr>
        <p:spPr>
          <a:xfrm>
            <a:off x="202387" y="6495389"/>
            <a:ext cx="5502910" cy="288290"/>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pic>
        <p:nvPicPr>
          <p:cNvPr id="8" name="object 6">
            <a:extLst>
              <a:ext uri="{FF2B5EF4-FFF2-40B4-BE49-F238E27FC236}">
                <a16:creationId xmlns:a16="http://schemas.microsoft.com/office/drawing/2014/main" id="{E5023AD7-C13D-CE12-62F8-93E0377BA425}"/>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389BAF03-7895-652F-4993-DEE8D98DA586}"/>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4</a:t>
            </a:r>
          </a:p>
        </p:txBody>
      </p:sp>
      <p:sp>
        <p:nvSpPr>
          <p:cNvPr id="4" name="TextBox 3">
            <a:extLst>
              <a:ext uri="{FF2B5EF4-FFF2-40B4-BE49-F238E27FC236}">
                <a16:creationId xmlns:a16="http://schemas.microsoft.com/office/drawing/2014/main" id="{8C30057D-29DC-BC15-0B87-8A6288947027}"/>
              </a:ext>
            </a:extLst>
          </p:cNvPr>
          <p:cNvSpPr txBox="1"/>
          <p:nvPr/>
        </p:nvSpPr>
        <p:spPr>
          <a:xfrm>
            <a:off x="4887973" y="5744988"/>
            <a:ext cx="3165793" cy="307777"/>
          </a:xfrm>
          <a:prstGeom prst="rect">
            <a:avLst/>
          </a:prstGeom>
          <a:noFill/>
        </p:spPr>
        <p:txBody>
          <a:bodyPr wrap="square" rtlCol="0">
            <a:spAutoFit/>
          </a:bodyPr>
          <a:lstStyle/>
          <a:p>
            <a:r>
              <a:rPr lang="en-US" sz="1400" i="1" dirty="0"/>
              <a:t>Figure 2 : Literature Review</a:t>
            </a:r>
          </a:p>
        </p:txBody>
      </p:sp>
      <p:graphicFrame>
        <p:nvGraphicFramePr>
          <p:cNvPr id="7" name="Table 6">
            <a:extLst>
              <a:ext uri="{FF2B5EF4-FFF2-40B4-BE49-F238E27FC236}">
                <a16:creationId xmlns:a16="http://schemas.microsoft.com/office/drawing/2014/main" id="{2DA6DE02-370F-7E1A-A235-00E009422808}"/>
              </a:ext>
            </a:extLst>
          </p:cNvPr>
          <p:cNvGraphicFramePr>
            <a:graphicFrameLocks noGrp="1"/>
          </p:cNvGraphicFramePr>
          <p:nvPr>
            <p:extLst>
              <p:ext uri="{D42A27DB-BD31-4B8C-83A1-F6EECF244321}">
                <p14:modId xmlns:p14="http://schemas.microsoft.com/office/powerpoint/2010/main" val="2674547669"/>
              </p:ext>
            </p:extLst>
          </p:nvPr>
        </p:nvGraphicFramePr>
        <p:xfrm>
          <a:off x="320675" y="1161403"/>
          <a:ext cx="11566526" cy="4510359"/>
        </p:xfrm>
        <a:graphic>
          <a:graphicData uri="http://schemas.openxmlformats.org/drawingml/2006/table">
            <a:tbl>
              <a:tblPr firstRow="1" bandRow="1">
                <a:tableStyleId>{5C22544A-7EE6-4342-B048-85BDC9FD1C3A}</a:tableStyleId>
              </a:tblPr>
              <a:tblGrid>
                <a:gridCol w="1028135">
                  <a:extLst>
                    <a:ext uri="{9D8B030D-6E8A-4147-A177-3AD203B41FA5}">
                      <a16:colId xmlns:a16="http://schemas.microsoft.com/office/drawing/2014/main" val="2778854409"/>
                    </a:ext>
                  </a:extLst>
                </a:gridCol>
                <a:gridCol w="1927754">
                  <a:extLst>
                    <a:ext uri="{9D8B030D-6E8A-4147-A177-3AD203B41FA5}">
                      <a16:colId xmlns:a16="http://schemas.microsoft.com/office/drawing/2014/main" val="3222582928"/>
                    </a:ext>
                  </a:extLst>
                </a:gridCol>
                <a:gridCol w="2570339">
                  <a:extLst>
                    <a:ext uri="{9D8B030D-6E8A-4147-A177-3AD203B41FA5}">
                      <a16:colId xmlns:a16="http://schemas.microsoft.com/office/drawing/2014/main" val="1913644218"/>
                    </a:ext>
                  </a:extLst>
                </a:gridCol>
                <a:gridCol w="3212924">
                  <a:extLst>
                    <a:ext uri="{9D8B030D-6E8A-4147-A177-3AD203B41FA5}">
                      <a16:colId xmlns:a16="http://schemas.microsoft.com/office/drawing/2014/main" val="2018299690"/>
                    </a:ext>
                  </a:extLst>
                </a:gridCol>
                <a:gridCol w="2827374">
                  <a:extLst>
                    <a:ext uri="{9D8B030D-6E8A-4147-A177-3AD203B41FA5}">
                      <a16:colId xmlns:a16="http://schemas.microsoft.com/office/drawing/2014/main" val="3694588490"/>
                    </a:ext>
                  </a:extLst>
                </a:gridCol>
              </a:tblGrid>
              <a:tr h="470658">
                <a:tc>
                  <a:txBody>
                    <a:bodyPr/>
                    <a:lstStyle/>
                    <a:p>
                      <a:pPr algn="l">
                        <a:defRPr sz="1000" b="1">
                          <a:solidFill>
                            <a:srgbClr val="FFFFFF"/>
                          </a:solidFill>
                        </a:defRPr>
                      </a:pPr>
                      <a:r>
                        <a:rPr sz="1500" dirty="0"/>
                        <a:t>Ref No.</a:t>
                      </a:r>
                    </a:p>
                  </a:txBody>
                  <a:tcPr/>
                </a:tc>
                <a:tc>
                  <a:txBody>
                    <a:bodyPr/>
                    <a:lstStyle/>
                    <a:p>
                      <a:pPr algn="l">
                        <a:defRPr sz="1000" b="1">
                          <a:solidFill>
                            <a:srgbClr val="FFFFFF"/>
                          </a:solidFill>
                        </a:defRPr>
                      </a:pPr>
                      <a:r>
                        <a:rPr sz="1500" dirty="0"/>
                        <a:t>Researcher(s)</a:t>
                      </a:r>
                    </a:p>
                  </a:txBody>
                  <a:tcPr/>
                </a:tc>
                <a:tc>
                  <a:txBody>
                    <a:bodyPr/>
                    <a:lstStyle/>
                    <a:p>
                      <a:pPr algn="l">
                        <a:defRPr sz="1000" b="1">
                          <a:solidFill>
                            <a:srgbClr val="FFFFFF"/>
                          </a:solidFill>
                        </a:defRPr>
                      </a:pPr>
                      <a:r>
                        <a:rPr sz="1500" dirty="0"/>
                        <a:t>Objective</a:t>
                      </a:r>
                    </a:p>
                  </a:txBody>
                  <a:tcPr/>
                </a:tc>
                <a:tc>
                  <a:txBody>
                    <a:bodyPr/>
                    <a:lstStyle/>
                    <a:p>
                      <a:pPr algn="l">
                        <a:defRPr sz="1000" b="1">
                          <a:solidFill>
                            <a:srgbClr val="FFFFFF"/>
                          </a:solidFill>
                        </a:defRPr>
                      </a:pPr>
                      <a:r>
                        <a:rPr sz="1500" dirty="0"/>
                        <a:t>Methodology (incl. dataset/tools)</a:t>
                      </a:r>
                    </a:p>
                  </a:txBody>
                  <a:tcPr/>
                </a:tc>
                <a:tc>
                  <a:txBody>
                    <a:bodyPr/>
                    <a:lstStyle/>
                    <a:p>
                      <a:pPr algn="l">
                        <a:defRPr sz="1000" b="1">
                          <a:solidFill>
                            <a:srgbClr val="FFFFFF"/>
                          </a:solidFill>
                        </a:defRPr>
                      </a:pPr>
                      <a:r>
                        <a:rPr sz="1500" dirty="0"/>
                        <a:t>Limitations</a:t>
                      </a:r>
                    </a:p>
                  </a:txBody>
                  <a:tcPr/>
                </a:tc>
                <a:extLst>
                  <a:ext uri="{0D108BD9-81ED-4DB2-BD59-A6C34878D82A}">
                    <a16:rowId xmlns:a16="http://schemas.microsoft.com/office/drawing/2014/main" val="1322600903"/>
                  </a:ext>
                </a:extLst>
              </a:tr>
              <a:tr h="990967">
                <a:tc>
                  <a:txBody>
                    <a:bodyPr/>
                    <a:lstStyle/>
                    <a:p>
                      <a:pPr algn="l">
                        <a:defRPr sz="1000"/>
                      </a:pPr>
                      <a:r>
                        <a:rPr sz="1600" dirty="0"/>
                        <a:t>[</a:t>
                      </a:r>
                      <a:r>
                        <a:rPr lang="en-US" sz="1600" dirty="0"/>
                        <a:t>7</a:t>
                      </a:r>
                      <a:r>
                        <a:rPr sz="1600" dirty="0"/>
                        <a:t>]</a:t>
                      </a:r>
                    </a:p>
                  </a:txBody>
                  <a:tcPr/>
                </a:tc>
                <a:tc>
                  <a:txBody>
                    <a:bodyPr/>
                    <a:lstStyle/>
                    <a:p>
                      <a:pPr algn="l">
                        <a:defRPr sz="1000"/>
                      </a:pPr>
                      <a:r>
                        <a:rPr sz="1600" dirty="0"/>
                        <a:t>Li et al. (2023)</a:t>
                      </a:r>
                    </a:p>
                  </a:txBody>
                  <a:tcPr/>
                </a:tc>
                <a:tc>
                  <a:txBody>
                    <a:bodyPr/>
                    <a:lstStyle/>
                    <a:p>
                      <a:pPr algn="l">
                        <a:defRPr sz="1000"/>
                      </a:pPr>
                      <a:r>
                        <a:rPr sz="1600" dirty="0"/>
                        <a:t>Track intent changes on LinkedIn with DIGMN</a:t>
                      </a:r>
                    </a:p>
                  </a:txBody>
                  <a:tcPr/>
                </a:tc>
                <a:tc>
                  <a:txBody>
                    <a:bodyPr/>
                    <a:lstStyle/>
                    <a:p>
                      <a:pPr algn="l">
                        <a:defRPr sz="1000"/>
                      </a:pPr>
                      <a:r>
                        <a:rPr sz="1600" dirty="0"/>
                        <a:t>Meta-learning model (DIGMN); long-term intent-based engagement tracking</a:t>
                      </a:r>
                    </a:p>
                  </a:txBody>
                  <a:tcPr/>
                </a:tc>
                <a:tc>
                  <a:txBody>
                    <a:bodyPr/>
                    <a:lstStyle/>
                    <a:p>
                      <a:pPr algn="l">
                        <a:defRPr sz="1000"/>
                      </a:pPr>
                      <a:r>
                        <a:rPr sz="1600" dirty="0"/>
                        <a:t>Context-specific (LinkedIn); not adaptable to irregular small-scale Python logs</a:t>
                      </a:r>
                    </a:p>
                  </a:txBody>
                  <a:tcPr/>
                </a:tc>
                <a:extLst>
                  <a:ext uri="{0D108BD9-81ED-4DB2-BD59-A6C34878D82A}">
                    <a16:rowId xmlns:a16="http://schemas.microsoft.com/office/drawing/2014/main" val="2606215290"/>
                  </a:ext>
                </a:extLst>
              </a:tr>
              <a:tr h="990967">
                <a:tc>
                  <a:txBody>
                    <a:bodyPr/>
                    <a:lstStyle/>
                    <a:p>
                      <a:pPr algn="l">
                        <a:defRPr sz="1000"/>
                      </a:pPr>
                      <a:r>
                        <a:rPr sz="1600" dirty="0"/>
                        <a:t>[</a:t>
                      </a:r>
                      <a:r>
                        <a:rPr lang="en-US" sz="1600" dirty="0"/>
                        <a:t>8</a:t>
                      </a:r>
                      <a:r>
                        <a:rPr sz="1600" dirty="0"/>
                        <a:t>]</a:t>
                      </a:r>
                    </a:p>
                  </a:txBody>
                  <a:tcPr/>
                </a:tc>
                <a:tc>
                  <a:txBody>
                    <a:bodyPr/>
                    <a:lstStyle/>
                    <a:p>
                      <a:pPr algn="l">
                        <a:defRPr sz="1000"/>
                      </a:pPr>
                      <a:r>
                        <a:rPr sz="1600" dirty="0"/>
                        <a:t>Gnanasekaran et al. (2023)</a:t>
                      </a:r>
                    </a:p>
                  </a:txBody>
                  <a:tcPr/>
                </a:tc>
                <a:tc>
                  <a:txBody>
                    <a:bodyPr/>
                    <a:lstStyle/>
                    <a:p>
                      <a:pPr algn="l">
                        <a:defRPr sz="1000"/>
                      </a:pPr>
                      <a:r>
                        <a:rPr sz="1600"/>
                        <a:t>Forecast web traffic using Prophet</a:t>
                      </a:r>
                    </a:p>
                  </a:txBody>
                  <a:tcPr/>
                </a:tc>
                <a:tc>
                  <a:txBody>
                    <a:bodyPr/>
                    <a:lstStyle/>
                    <a:p>
                      <a:pPr algn="l">
                        <a:defRPr sz="1000"/>
                      </a:pPr>
                      <a:r>
                        <a:rPr sz="1600" dirty="0"/>
                        <a:t>Prophet model with missing data handling and holidays</a:t>
                      </a:r>
                    </a:p>
                  </a:txBody>
                  <a:tcPr/>
                </a:tc>
                <a:tc>
                  <a:txBody>
                    <a:bodyPr/>
                    <a:lstStyle/>
                    <a:p>
                      <a:pPr algn="l">
                        <a:defRPr sz="1000"/>
                      </a:pPr>
                      <a:r>
                        <a:rPr sz="1600" dirty="0"/>
                        <a:t>Web traffic focus; ignores Python app scenarios and engagement metrics</a:t>
                      </a:r>
                    </a:p>
                  </a:txBody>
                  <a:tcPr/>
                </a:tc>
                <a:extLst>
                  <a:ext uri="{0D108BD9-81ED-4DB2-BD59-A6C34878D82A}">
                    <a16:rowId xmlns:a16="http://schemas.microsoft.com/office/drawing/2014/main" val="3420166587"/>
                  </a:ext>
                </a:extLst>
              </a:tr>
              <a:tr h="990967">
                <a:tc>
                  <a:txBody>
                    <a:bodyPr/>
                    <a:lstStyle/>
                    <a:p>
                      <a:pPr algn="l">
                        <a:defRPr sz="1000"/>
                      </a:pPr>
                      <a:r>
                        <a:rPr sz="1600" dirty="0"/>
                        <a:t>[</a:t>
                      </a:r>
                      <a:r>
                        <a:rPr lang="en-US" sz="1600" dirty="0"/>
                        <a:t>9</a:t>
                      </a:r>
                      <a:r>
                        <a:rPr sz="1600" dirty="0"/>
                        <a:t>]</a:t>
                      </a:r>
                    </a:p>
                  </a:txBody>
                  <a:tcPr/>
                </a:tc>
                <a:tc>
                  <a:txBody>
                    <a:bodyPr/>
                    <a:lstStyle/>
                    <a:p>
                      <a:pPr algn="l">
                        <a:defRPr sz="1000"/>
                      </a:pPr>
                      <a:r>
                        <a:rPr sz="1600"/>
                        <a:t>Seca (2021)</a:t>
                      </a:r>
                    </a:p>
                  </a:txBody>
                  <a:tcPr/>
                </a:tc>
                <a:tc>
                  <a:txBody>
                    <a:bodyPr/>
                    <a:lstStyle/>
                    <a:p>
                      <a:pPr algn="l">
                        <a:defRPr sz="1000"/>
                      </a:pPr>
                      <a:r>
                        <a:rPr sz="1600" dirty="0"/>
                        <a:t>Debug forecasting pipelines using TimeGym</a:t>
                      </a:r>
                    </a:p>
                  </a:txBody>
                  <a:tcPr/>
                </a:tc>
                <a:tc>
                  <a:txBody>
                    <a:bodyPr/>
                    <a:lstStyle/>
                    <a:p>
                      <a:pPr algn="l">
                        <a:defRPr sz="1000"/>
                      </a:pPr>
                      <a:r>
                        <a:rPr sz="1600" dirty="0"/>
                        <a:t>Tool for testing and evaluating time series models in Python</a:t>
                      </a:r>
                    </a:p>
                  </a:txBody>
                  <a:tcPr/>
                </a:tc>
                <a:tc>
                  <a:txBody>
                    <a:bodyPr/>
                    <a:lstStyle/>
                    <a:p>
                      <a:pPr algn="l">
                        <a:defRPr sz="1000"/>
                      </a:pPr>
                      <a:r>
                        <a:rPr sz="1600" dirty="0"/>
                        <a:t>Not a model — just a testing framework; lacks forecasting architecture</a:t>
                      </a:r>
                    </a:p>
                  </a:txBody>
                  <a:tcPr/>
                </a:tc>
                <a:extLst>
                  <a:ext uri="{0D108BD9-81ED-4DB2-BD59-A6C34878D82A}">
                    <a16:rowId xmlns:a16="http://schemas.microsoft.com/office/drawing/2014/main" val="3135094361"/>
                  </a:ext>
                </a:extLst>
              </a:tr>
              <a:tr h="990967">
                <a:tc>
                  <a:txBody>
                    <a:bodyPr/>
                    <a:lstStyle/>
                    <a:p>
                      <a:pPr algn="l">
                        <a:defRPr sz="1000"/>
                      </a:pPr>
                      <a:r>
                        <a:rPr sz="1600" dirty="0"/>
                        <a:t>[</a:t>
                      </a:r>
                      <a:r>
                        <a:rPr lang="en-US" sz="1600" dirty="0"/>
                        <a:t>10</a:t>
                      </a:r>
                      <a:r>
                        <a:rPr sz="1600" dirty="0"/>
                        <a:t>]</a:t>
                      </a:r>
                    </a:p>
                  </a:txBody>
                  <a:tcPr/>
                </a:tc>
                <a:tc>
                  <a:txBody>
                    <a:bodyPr/>
                    <a:lstStyle/>
                    <a:p>
                      <a:pPr algn="l">
                        <a:defRPr sz="1000"/>
                      </a:pPr>
                      <a:r>
                        <a:rPr sz="1600"/>
                        <a:t>Bollig et al. (2024)</a:t>
                      </a:r>
                    </a:p>
                  </a:txBody>
                  <a:tcPr/>
                </a:tc>
                <a:tc>
                  <a:txBody>
                    <a:bodyPr/>
                    <a:lstStyle/>
                    <a:p>
                      <a:pPr algn="l">
                        <a:defRPr sz="1000"/>
                      </a:pPr>
                      <a:r>
                        <a:rPr sz="1600" dirty="0"/>
                        <a:t>Event-log forecasting for business processes</a:t>
                      </a:r>
                    </a:p>
                  </a:txBody>
                  <a:tcPr/>
                </a:tc>
                <a:tc>
                  <a:txBody>
                    <a:bodyPr/>
                    <a:lstStyle/>
                    <a:p>
                      <a:pPr algn="l">
                        <a:defRPr sz="1000"/>
                      </a:pPr>
                      <a:r>
                        <a:rPr sz="1600" dirty="0"/>
                        <a:t>Streaming predictions using n-grams, LSTMs</a:t>
                      </a:r>
                    </a:p>
                  </a:txBody>
                  <a:tcPr/>
                </a:tc>
                <a:tc>
                  <a:txBody>
                    <a:bodyPr/>
                    <a:lstStyle/>
                    <a:p>
                      <a:pPr algn="l">
                        <a:defRPr sz="1000"/>
                      </a:pPr>
                      <a:r>
                        <a:rPr sz="1600" dirty="0"/>
                        <a:t>Targets business workflows — not developer tools or sparse user engagement scenarios</a:t>
                      </a:r>
                    </a:p>
                  </a:txBody>
                  <a:tcPr/>
                </a:tc>
                <a:extLst>
                  <a:ext uri="{0D108BD9-81ED-4DB2-BD59-A6C34878D82A}">
                    <a16:rowId xmlns:a16="http://schemas.microsoft.com/office/drawing/2014/main" val="3977095385"/>
                  </a:ext>
                </a:extLst>
              </a:tr>
            </a:tbl>
          </a:graphicData>
        </a:graphic>
      </p:graphicFrame>
    </p:spTree>
    <p:extLst>
      <p:ext uri="{BB962C8B-B14F-4D97-AF65-F5344CB8AC3E}">
        <p14:creationId xmlns:p14="http://schemas.microsoft.com/office/powerpoint/2010/main" val="2928193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5A31F-03C0-7906-A9C6-4E7A2FE7F1B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91FA2EF-7FA6-CCC1-7285-83161B135F03}"/>
              </a:ext>
            </a:extLst>
          </p:cNvPr>
          <p:cNvSpPr txBox="1"/>
          <p:nvPr/>
        </p:nvSpPr>
        <p:spPr>
          <a:xfrm>
            <a:off x="320675" y="200025"/>
            <a:ext cx="4711065" cy="76835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Research Gap</a:t>
            </a:r>
          </a:p>
        </p:txBody>
      </p:sp>
      <p:sp>
        <p:nvSpPr>
          <p:cNvPr id="12" name="文本框 11">
            <a:extLst>
              <a:ext uri="{FF2B5EF4-FFF2-40B4-BE49-F238E27FC236}">
                <a16:creationId xmlns:a16="http://schemas.microsoft.com/office/drawing/2014/main" id="{EE9FA6E5-61AC-2A58-1AC2-4E7D78B76BA8}"/>
              </a:ext>
            </a:extLst>
          </p:cNvPr>
          <p:cNvSpPr txBox="1"/>
          <p:nvPr/>
        </p:nvSpPr>
        <p:spPr>
          <a:xfrm>
            <a:off x="179019" y="1296902"/>
            <a:ext cx="12012981" cy="4552613"/>
          </a:xfrm>
          <a:prstGeom prst="rect">
            <a:avLst/>
          </a:prstGeom>
          <a:noFill/>
        </p:spPr>
        <p:txBody>
          <a:bodyPr wrap="square" rtlCol="0" anchor="t">
            <a:noAutofit/>
          </a:bodyPr>
          <a:lstStyle>
            <a:defPPr>
              <a:defRPr lang="zh-CN"/>
            </a:defPPr>
            <a:lvl1pPr marL="342900" indent="-342900" algn="just">
              <a:lnSpc>
                <a:spcPct val="200000"/>
              </a:lnSpc>
              <a:spcBef>
                <a:spcPts val="0"/>
              </a:spcBef>
              <a:spcAft>
                <a:spcPts val="0"/>
              </a:spcAft>
              <a:buFont typeface="Arial" panose="020B0604020202020204" pitchFamily="34" charset="0"/>
              <a:buChar char="•"/>
              <a:defRPr sz="2200">
                <a:solidFill>
                  <a:schemeClr val="tx1">
                    <a:lumMod val="75000"/>
                    <a:lumOff val="25000"/>
                  </a:schemeClr>
                </a:solidFill>
                <a:latin typeface="Roboto Light" panose="02000000000000000000" charset="0"/>
                <a:cs typeface="Roboto Light" panose="02000000000000000000" charset="0"/>
              </a:defRPr>
            </a:lvl1pPr>
          </a:lstStyle>
          <a:p>
            <a:r>
              <a:rPr lang="en-US" altLang="zh-CN" dirty="0">
                <a:sym typeface="+mn-ea"/>
              </a:rPr>
              <a:t>Most existing studies focus on mobile, social, or web applications — not Python-based tools.</a:t>
            </a:r>
          </a:p>
          <a:p>
            <a:r>
              <a:rPr lang="en-US" altLang="zh-CN" dirty="0">
                <a:sym typeface="+mn-ea"/>
              </a:rPr>
              <a:t>Engagement forecasting is rare in developer-focused or utility-based Python apps.</a:t>
            </a:r>
          </a:p>
          <a:p>
            <a:r>
              <a:rPr lang="en-US" altLang="zh-CN" dirty="0">
                <a:sym typeface="+mn-ea"/>
              </a:rPr>
              <a:t>Traditional models (e.g., regression, ARIMA) fail with bursty or irregular usage patterns.</a:t>
            </a:r>
          </a:p>
          <a:p>
            <a:r>
              <a:rPr lang="en-US" altLang="zh-CN" dirty="0">
                <a:sym typeface="+mn-ea"/>
              </a:rPr>
              <a:t>Deep learning models like LSTM are underused in software engineering engagement research.</a:t>
            </a:r>
          </a:p>
          <a:p>
            <a:r>
              <a:rPr lang="en-US" altLang="zh-CN" dirty="0">
                <a:sym typeface="+mn-ea"/>
              </a:rPr>
              <a:t>No unified framework exists for engagement forecasting using Python app usage logs.</a:t>
            </a:r>
          </a:p>
          <a:p>
            <a:r>
              <a:rPr lang="en-US" altLang="zh-CN" dirty="0">
                <a:sym typeface="+mn-ea"/>
              </a:rPr>
              <a:t>Lack of research on proactive user retention based on predictive temporal patterns in logs.</a:t>
            </a:r>
            <a:endParaRPr lang="zh-CN" altLang="en-US" dirty="0">
              <a:sym typeface="+mn-ea"/>
            </a:endParaRPr>
          </a:p>
        </p:txBody>
      </p:sp>
      <p:sp>
        <p:nvSpPr>
          <p:cNvPr id="5" name="object 2">
            <a:extLst>
              <a:ext uri="{FF2B5EF4-FFF2-40B4-BE49-F238E27FC236}">
                <a16:creationId xmlns:a16="http://schemas.microsoft.com/office/drawing/2014/main" id="{1918F3AD-0703-63B0-6939-83E32A97C223}"/>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98A5BFF8-FE47-1C9B-3732-0C90B5213710}"/>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296D5429-B15C-9F06-5589-9190CECC777C}"/>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5</a:t>
            </a:r>
          </a:p>
        </p:txBody>
      </p:sp>
      <p:sp>
        <p:nvSpPr>
          <p:cNvPr id="10" name="object 3">
            <a:extLst>
              <a:ext uri="{FF2B5EF4-FFF2-40B4-BE49-F238E27FC236}">
                <a16:creationId xmlns:a16="http://schemas.microsoft.com/office/drawing/2014/main" id="{FD9CBF00-7356-83F4-5468-DBD1251C0009}"/>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Tree>
    <p:extLst>
      <p:ext uri="{BB962C8B-B14F-4D97-AF65-F5344CB8AC3E}">
        <p14:creationId xmlns:p14="http://schemas.microsoft.com/office/powerpoint/2010/main" val="5260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82850-01B0-FDBB-E538-A4115CE0D24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BC578B7-CE05-C17F-336F-FDFF5558DC3F}"/>
              </a:ext>
            </a:extLst>
          </p:cNvPr>
          <p:cNvSpPr txBox="1"/>
          <p:nvPr/>
        </p:nvSpPr>
        <p:spPr>
          <a:xfrm>
            <a:off x="320675" y="200025"/>
            <a:ext cx="9756775" cy="76944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4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Significance of the Research</a:t>
            </a:r>
          </a:p>
        </p:txBody>
      </p:sp>
      <p:sp>
        <p:nvSpPr>
          <p:cNvPr id="12" name="文本框 11">
            <a:extLst>
              <a:ext uri="{FF2B5EF4-FFF2-40B4-BE49-F238E27FC236}">
                <a16:creationId xmlns:a16="http://schemas.microsoft.com/office/drawing/2014/main" id="{8B662BCF-53F1-1CCB-E258-CC91B68CDF49}"/>
              </a:ext>
            </a:extLst>
          </p:cNvPr>
          <p:cNvSpPr txBox="1"/>
          <p:nvPr/>
        </p:nvSpPr>
        <p:spPr>
          <a:xfrm>
            <a:off x="513378" y="1111037"/>
            <a:ext cx="11453533" cy="4857582"/>
          </a:xfrm>
          <a:prstGeom prst="rect">
            <a:avLst/>
          </a:prstGeom>
          <a:noFill/>
        </p:spPr>
        <p:txBody>
          <a:bodyPr wrap="square" rtlCol="0" anchor="t">
            <a:noAutofit/>
          </a:bodyPr>
          <a:lstStyle/>
          <a:p>
            <a:pPr marL="342900" indent="-342900" algn="just">
              <a:lnSpc>
                <a:spcPct val="20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Helps Python developers to predict user engagement trends in real-time.</a:t>
            </a:r>
          </a:p>
          <a:p>
            <a:pPr marL="342900" indent="-342900" algn="just">
              <a:lnSpc>
                <a:spcPct val="20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Provides proactive decision-making support for feature planning and resource allocation.</a:t>
            </a:r>
          </a:p>
          <a:p>
            <a:pPr marL="342900" indent="-342900" algn="just">
              <a:lnSpc>
                <a:spcPct val="20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Offers a forecasting framework tailored to Python usage logs — a first of its kind.</a:t>
            </a:r>
          </a:p>
          <a:p>
            <a:pPr marL="342900" indent="-342900" algn="just">
              <a:lnSpc>
                <a:spcPct val="20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Enhances software quality, retention, and user satisfaction.</a:t>
            </a:r>
          </a:p>
          <a:p>
            <a:pPr marL="342900" indent="-342900" algn="just">
              <a:lnSpc>
                <a:spcPct val="20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Supports open-source sustainability by forecasting contributor and user drop-off.</a:t>
            </a:r>
          </a:p>
          <a:p>
            <a:pPr marL="342900" indent="-342900" algn="just">
              <a:lnSpc>
                <a:spcPct val="20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Bridges Software Engineering with Data Science through real-time analytics.</a:t>
            </a:r>
          </a:p>
          <a:p>
            <a:pPr marL="342900" indent="-342900" algn="just">
              <a:lnSpc>
                <a:spcPct val="200000"/>
              </a:lnSpc>
              <a:spcBef>
                <a:spcPts val="0"/>
              </a:spcBef>
              <a:spcAft>
                <a:spcPts val="0"/>
              </a:spcAft>
              <a:buFont typeface="Arial" panose="020B0604020202020204" pitchFamily="34" charset="0"/>
              <a:buChar char="•"/>
            </a:pPr>
            <a:r>
              <a:rPr lang="en-US" altLang="zh-CN" sz="2200" dirty="0">
                <a:solidFill>
                  <a:schemeClr val="tx1">
                    <a:lumMod val="75000"/>
                    <a:lumOff val="25000"/>
                  </a:schemeClr>
                </a:solidFill>
                <a:latin typeface="Roboto Light" panose="02000000000000000000" charset="0"/>
                <a:cs typeface="Roboto Light" panose="02000000000000000000" charset="0"/>
                <a:sym typeface="+mn-ea"/>
              </a:rPr>
              <a:t>Contributes to modern trends in temporal analytics and smart software systems.</a:t>
            </a:r>
            <a:endParaRPr lang="zh-CN" altLang="en-US" sz="22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733AA414-CC27-827E-C039-B80B4EB48F4A}"/>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D75C1EB1-090C-85E3-9DFF-777ECAE10002}"/>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0FC33AA9-20A2-27C8-C7ED-83D733EF0DEF}"/>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6</a:t>
            </a:r>
          </a:p>
        </p:txBody>
      </p:sp>
      <p:sp>
        <p:nvSpPr>
          <p:cNvPr id="10" name="object 3">
            <a:extLst>
              <a:ext uri="{FF2B5EF4-FFF2-40B4-BE49-F238E27FC236}">
                <a16:creationId xmlns:a16="http://schemas.microsoft.com/office/drawing/2014/main" id="{C04DD669-D854-F882-D337-90773755173A}"/>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Tree>
    <p:extLst>
      <p:ext uri="{BB962C8B-B14F-4D97-AF65-F5344CB8AC3E}">
        <p14:creationId xmlns:p14="http://schemas.microsoft.com/office/powerpoint/2010/main" val="2658445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8A357-1400-DE9A-45DF-A74F83CBB72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B0A5B28-9FF5-1DDE-2DF0-F70BFC489156}"/>
              </a:ext>
            </a:extLst>
          </p:cNvPr>
          <p:cNvSpPr txBox="1"/>
          <p:nvPr/>
        </p:nvSpPr>
        <p:spPr>
          <a:xfrm>
            <a:off x="282575" y="294780"/>
            <a:ext cx="9756775" cy="5847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32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Problem Statement &amp; Research Questions</a:t>
            </a:r>
          </a:p>
        </p:txBody>
      </p:sp>
      <p:sp>
        <p:nvSpPr>
          <p:cNvPr id="12" name="文本框 11">
            <a:extLst>
              <a:ext uri="{FF2B5EF4-FFF2-40B4-BE49-F238E27FC236}">
                <a16:creationId xmlns:a16="http://schemas.microsoft.com/office/drawing/2014/main" id="{F9DA90F9-AA44-9F2A-3BB8-BB50210F4F6A}"/>
              </a:ext>
            </a:extLst>
          </p:cNvPr>
          <p:cNvSpPr txBox="1"/>
          <p:nvPr/>
        </p:nvSpPr>
        <p:spPr>
          <a:xfrm>
            <a:off x="282575" y="1596149"/>
            <a:ext cx="11125389" cy="4276726"/>
          </a:xfrm>
          <a:prstGeom prst="rect">
            <a:avLst/>
          </a:prstGeom>
          <a:noFill/>
        </p:spPr>
        <p:txBody>
          <a:bodyPr wrap="square" rtlCol="0" anchor="t">
            <a:noAutofit/>
          </a:bodyPr>
          <a:lstStyle/>
          <a:p>
            <a:pPr marL="342900" indent="-342900" algn="just">
              <a:lnSpc>
                <a:spcPct val="200000"/>
              </a:lnSpc>
              <a:spcBef>
                <a:spcPts val="0"/>
              </a:spcBef>
              <a:spcAft>
                <a:spcPts val="0"/>
              </a:spcAft>
              <a:buFont typeface="Arial" panose="020B0604020202020204" pitchFamily="34" charset="0"/>
              <a:buChar char="•"/>
            </a:pPr>
            <a:r>
              <a:rPr lang="en-US" altLang="zh-CN" sz="2200">
                <a:solidFill>
                  <a:schemeClr val="tx1">
                    <a:lumMod val="75000"/>
                    <a:lumOff val="25000"/>
                  </a:schemeClr>
                </a:solidFill>
                <a:latin typeface="Roboto Light" panose="02000000000000000000" charset="0"/>
                <a:cs typeface="Roboto Light" panose="02000000000000000000" charset="0"/>
                <a:sym typeface="+mn-ea"/>
              </a:rPr>
              <a:t>Forecasting user engagement in Python apps is limited by model and data constraints.</a:t>
            </a:r>
          </a:p>
          <a:p>
            <a:pPr marL="342900" indent="-342900" algn="just">
              <a:lnSpc>
                <a:spcPct val="200000"/>
              </a:lnSpc>
              <a:spcBef>
                <a:spcPts val="0"/>
              </a:spcBef>
              <a:spcAft>
                <a:spcPts val="0"/>
              </a:spcAft>
              <a:buFont typeface="Arial" panose="020B0604020202020204" pitchFamily="34" charset="0"/>
              <a:buChar char="•"/>
            </a:pPr>
            <a:r>
              <a:rPr lang="en-US" altLang="zh-CN" sz="2200">
                <a:solidFill>
                  <a:schemeClr val="tx1">
                    <a:lumMod val="75000"/>
                    <a:lumOff val="25000"/>
                  </a:schemeClr>
                </a:solidFill>
                <a:latin typeface="Roboto Light" panose="02000000000000000000" charset="0"/>
                <a:cs typeface="Roboto Light" panose="02000000000000000000" charset="0"/>
                <a:sym typeface="+mn-ea"/>
              </a:rPr>
              <a:t>Traditional models like ARIMA miss complex user behavior.</a:t>
            </a:r>
          </a:p>
          <a:p>
            <a:pPr marL="342900" indent="-342900" algn="just">
              <a:lnSpc>
                <a:spcPct val="200000"/>
              </a:lnSpc>
              <a:spcBef>
                <a:spcPts val="0"/>
              </a:spcBef>
              <a:spcAft>
                <a:spcPts val="0"/>
              </a:spcAft>
              <a:buFont typeface="Arial" panose="020B0604020202020204" pitchFamily="34" charset="0"/>
              <a:buChar char="•"/>
            </a:pPr>
            <a:r>
              <a:rPr lang="en-US" altLang="zh-CN" sz="2200">
                <a:solidFill>
                  <a:schemeClr val="tx1">
                    <a:lumMod val="75000"/>
                    <a:lumOff val="25000"/>
                  </a:schemeClr>
                </a:solidFill>
                <a:latin typeface="Roboto Light" panose="02000000000000000000" charset="0"/>
                <a:cs typeface="Roboto Light" panose="02000000000000000000" charset="0"/>
                <a:sym typeface="+mn-ea"/>
              </a:rPr>
              <a:t>Advanced models like LSTM/GNN need high-quality data and large resources.</a:t>
            </a:r>
          </a:p>
          <a:p>
            <a:pPr marL="342900" indent="-342900" algn="just">
              <a:lnSpc>
                <a:spcPct val="200000"/>
              </a:lnSpc>
              <a:spcBef>
                <a:spcPts val="0"/>
              </a:spcBef>
              <a:spcAft>
                <a:spcPts val="0"/>
              </a:spcAft>
              <a:buFont typeface="Arial" panose="020B0604020202020204" pitchFamily="34" charset="0"/>
              <a:buChar char="•"/>
            </a:pPr>
            <a:r>
              <a:rPr lang="en-US" altLang="zh-CN" sz="2200">
                <a:solidFill>
                  <a:schemeClr val="tx1">
                    <a:lumMod val="75000"/>
                    <a:lumOff val="25000"/>
                  </a:schemeClr>
                </a:solidFill>
                <a:latin typeface="Roboto Light" panose="02000000000000000000" charset="0"/>
                <a:cs typeface="Roboto Light" panose="02000000000000000000" charset="0"/>
                <a:sym typeface="+mn-ea"/>
              </a:rPr>
              <a:t>Existing studies target mobile/social apps, not Python developer tools.</a:t>
            </a:r>
          </a:p>
          <a:p>
            <a:pPr marL="342900" indent="-342900" algn="just">
              <a:lnSpc>
                <a:spcPct val="200000"/>
              </a:lnSpc>
              <a:spcBef>
                <a:spcPts val="0"/>
              </a:spcBef>
              <a:spcAft>
                <a:spcPts val="0"/>
              </a:spcAft>
              <a:buFont typeface="Arial" panose="020B0604020202020204" pitchFamily="34" charset="0"/>
              <a:buChar char="•"/>
            </a:pPr>
            <a:r>
              <a:rPr lang="en-US" altLang="zh-CN" sz="2200">
                <a:solidFill>
                  <a:schemeClr val="tx1">
                    <a:lumMod val="75000"/>
                    <a:lumOff val="25000"/>
                  </a:schemeClr>
                </a:solidFill>
                <a:latin typeface="Roboto Light" panose="02000000000000000000" charset="0"/>
                <a:cs typeface="Roboto Light" panose="02000000000000000000" charset="0"/>
                <a:sym typeface="+mn-ea"/>
              </a:rPr>
              <a:t>Irregular usage patterns (e.g., academic tools) aren't well supported.</a:t>
            </a:r>
          </a:p>
          <a:p>
            <a:pPr marL="342900" indent="-342900" algn="just">
              <a:lnSpc>
                <a:spcPct val="200000"/>
              </a:lnSpc>
              <a:spcBef>
                <a:spcPts val="0"/>
              </a:spcBef>
              <a:spcAft>
                <a:spcPts val="0"/>
              </a:spcAft>
              <a:buFont typeface="Arial" panose="020B0604020202020204" pitchFamily="34" charset="0"/>
              <a:buChar char="•"/>
            </a:pPr>
            <a:r>
              <a:rPr lang="en-US" altLang="zh-CN" sz="2200">
                <a:solidFill>
                  <a:schemeClr val="tx1">
                    <a:lumMod val="75000"/>
                    <a:lumOff val="25000"/>
                  </a:schemeClr>
                </a:solidFill>
                <a:latin typeface="Roboto Light" panose="02000000000000000000" charset="0"/>
                <a:cs typeface="Roboto Light" panose="02000000000000000000" charset="0"/>
                <a:sym typeface="+mn-ea"/>
              </a:rPr>
              <a:t>A hybrid, interpretable forecasting model tailored for Python is needed.</a:t>
            </a:r>
            <a:endParaRPr lang="zh-CN" altLang="en-US" sz="22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E4A01994-CB02-C6D0-4746-9DDF09036BB5}"/>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053E7CCA-4D04-3341-8FBD-5DD7D28994A5}"/>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912B1693-9A24-16F7-8898-7204E52CE439}"/>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7</a:t>
            </a:r>
          </a:p>
        </p:txBody>
      </p:sp>
      <p:sp>
        <p:nvSpPr>
          <p:cNvPr id="10" name="object 3">
            <a:extLst>
              <a:ext uri="{FF2B5EF4-FFF2-40B4-BE49-F238E27FC236}">
                <a16:creationId xmlns:a16="http://schemas.microsoft.com/office/drawing/2014/main" id="{7E83C5AC-10BA-26A0-CEAE-2C257114E22C}"/>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3" name="文本框 8">
            <a:extLst>
              <a:ext uri="{FF2B5EF4-FFF2-40B4-BE49-F238E27FC236}">
                <a16:creationId xmlns:a16="http://schemas.microsoft.com/office/drawing/2014/main" id="{03E519FD-96FB-352A-7BCB-A9547FFCD070}"/>
              </a:ext>
            </a:extLst>
          </p:cNvPr>
          <p:cNvSpPr txBox="1"/>
          <p:nvPr/>
        </p:nvSpPr>
        <p:spPr>
          <a:xfrm>
            <a:off x="401378" y="1173700"/>
            <a:ext cx="11389243"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buClrTx/>
              <a:buSzTx/>
            </a:pPr>
            <a:r>
              <a:rPr lang="en-US" altLang="zh-CN" sz="2800" b="1" dirty="0">
                <a:solidFill>
                  <a:srgbClr val="203864"/>
                </a:solidFill>
                <a:latin typeface="Amasis MT Pro" panose="020F0502020204030204" pitchFamily="18" charset="0"/>
                <a:ea typeface="Roboto Light" panose="02000000000000000000" charset="0"/>
                <a:cs typeface="Roboto Medium" panose="02000000000000000000" charset="0"/>
                <a:sym typeface="+mn-ea"/>
              </a:rPr>
              <a:t>Problem Statement</a:t>
            </a:r>
            <a:endParaRPr lang="en-US" altLang="zh-CN" sz="2800" b="1" dirty="0">
              <a:solidFill>
                <a:srgbClr val="203864"/>
              </a:solidFill>
              <a:uFillTx/>
              <a:latin typeface="Amasis MT Pro" panose="020F0502020204030204" pitchFamily="18" charset="0"/>
              <a:ea typeface="Roboto Light" panose="02000000000000000000" charset="0"/>
              <a:cs typeface="Roboto Medium" panose="02000000000000000000" charset="0"/>
              <a:sym typeface="+mn-ea"/>
            </a:endParaRPr>
          </a:p>
        </p:txBody>
      </p:sp>
      <p:sp>
        <p:nvSpPr>
          <p:cNvPr id="6" name="TextBox 5">
            <a:extLst>
              <a:ext uri="{FF2B5EF4-FFF2-40B4-BE49-F238E27FC236}">
                <a16:creationId xmlns:a16="http://schemas.microsoft.com/office/drawing/2014/main" id="{EA54427A-14C1-4556-70E5-E813FB462740}"/>
              </a:ext>
            </a:extLst>
          </p:cNvPr>
          <p:cNvSpPr txBox="1"/>
          <p:nvPr/>
        </p:nvSpPr>
        <p:spPr>
          <a:xfrm>
            <a:off x="2302329" y="5845521"/>
            <a:ext cx="6097554" cy="369332"/>
          </a:xfrm>
          <a:prstGeom prst="rect">
            <a:avLst/>
          </a:prstGeom>
          <a:noFill/>
        </p:spPr>
        <p:txBody>
          <a:bodyPr wrap="square">
            <a:spAutoFit/>
          </a:bodyPr>
          <a:lstStyle/>
          <a:p>
            <a:r>
              <a:rPr lang="en-US" sz="1800" b="1" dirty="0">
                <a:effectLst/>
                <a:latin typeface="Times New Roman" panose="02020603050405020304" pitchFamily="18" charset="0"/>
                <a:ea typeface="Calibri" panose="020F0502020204030204" pitchFamily="34" charset="0"/>
              </a:rPr>
              <a:t>GNN </a:t>
            </a:r>
            <a:r>
              <a:rPr lang="en-US" sz="1800" dirty="0">
                <a:effectLst/>
                <a:latin typeface="Times New Roman" panose="02020603050405020304" pitchFamily="18" charset="0"/>
                <a:ea typeface="Calibri" panose="020F0502020204030204" pitchFamily="34" charset="0"/>
              </a:rPr>
              <a:t>(Graph Neural Network) </a:t>
            </a:r>
            <a:endParaRPr lang="en-US" dirty="0"/>
          </a:p>
        </p:txBody>
      </p:sp>
    </p:spTree>
    <p:extLst>
      <p:ext uri="{BB962C8B-B14F-4D97-AF65-F5344CB8AC3E}">
        <p14:creationId xmlns:p14="http://schemas.microsoft.com/office/powerpoint/2010/main" val="2963953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25A97-4CA2-8AD3-413B-946EA519067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898C54F-99EB-F2B1-C4D0-7B2DF7D8FD08}"/>
              </a:ext>
            </a:extLst>
          </p:cNvPr>
          <p:cNvSpPr txBox="1"/>
          <p:nvPr/>
        </p:nvSpPr>
        <p:spPr>
          <a:xfrm>
            <a:off x="282575" y="294780"/>
            <a:ext cx="9756775" cy="5847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32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Problem Statement &amp; Research Questions</a:t>
            </a:r>
          </a:p>
        </p:txBody>
      </p:sp>
      <p:sp>
        <p:nvSpPr>
          <p:cNvPr id="12" name="文本框 11">
            <a:extLst>
              <a:ext uri="{FF2B5EF4-FFF2-40B4-BE49-F238E27FC236}">
                <a16:creationId xmlns:a16="http://schemas.microsoft.com/office/drawing/2014/main" id="{77DB3F69-5ADC-CA94-CA60-35F7EAF9204C}"/>
              </a:ext>
            </a:extLst>
          </p:cNvPr>
          <p:cNvSpPr txBox="1"/>
          <p:nvPr/>
        </p:nvSpPr>
        <p:spPr>
          <a:xfrm>
            <a:off x="202387" y="1799157"/>
            <a:ext cx="12829592" cy="3776629"/>
          </a:xfrm>
          <a:prstGeom prst="rect">
            <a:avLst/>
          </a:prstGeom>
          <a:noFill/>
        </p:spPr>
        <p:txBody>
          <a:bodyPr wrap="square" rtlCol="0" anchor="t">
            <a:noAutofit/>
          </a:bodyPr>
          <a:lstStyle/>
          <a:p>
            <a:pPr marL="342900" indent="-342900" algn="just">
              <a:lnSpc>
                <a:spcPct val="200000"/>
              </a:lnSpc>
              <a:spcBef>
                <a:spcPts val="0"/>
              </a:spcBef>
              <a:spcAft>
                <a:spcPts val="0"/>
              </a:spcAft>
              <a:buFont typeface="Arial" panose="020B0604020202020204" pitchFamily="34" charset="0"/>
              <a:buChar char="•"/>
            </a:pPr>
            <a:r>
              <a:rPr lang="en-US" altLang="zh-CN" sz="2100" b="1" dirty="0">
                <a:solidFill>
                  <a:schemeClr val="tx1">
                    <a:lumMod val="75000"/>
                    <a:lumOff val="25000"/>
                  </a:schemeClr>
                </a:solidFill>
                <a:latin typeface="Roboto Light" panose="02000000000000000000" charset="0"/>
                <a:cs typeface="Roboto Light" panose="02000000000000000000" charset="0"/>
                <a:sym typeface="+mn-ea"/>
              </a:rPr>
              <a:t>RQ1: </a:t>
            </a: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How does ARIMA compare to other statistical models in predicting Python app engagement?</a:t>
            </a:r>
          </a:p>
          <a:p>
            <a:pPr marL="342900" indent="-342900" algn="just">
              <a:lnSpc>
                <a:spcPct val="200000"/>
              </a:lnSpc>
              <a:spcBef>
                <a:spcPts val="0"/>
              </a:spcBef>
              <a:spcAft>
                <a:spcPts val="0"/>
              </a:spcAft>
              <a:buFont typeface="Arial" panose="020B0604020202020204" pitchFamily="34" charset="0"/>
              <a:buChar char="•"/>
            </a:pPr>
            <a:r>
              <a:rPr lang="en-US" altLang="zh-CN" sz="2100" b="1" dirty="0">
                <a:solidFill>
                  <a:schemeClr val="tx1">
                    <a:lumMod val="75000"/>
                    <a:lumOff val="25000"/>
                  </a:schemeClr>
                </a:solidFill>
                <a:latin typeface="Roboto Light" panose="02000000000000000000" charset="0"/>
                <a:cs typeface="Roboto Light" panose="02000000000000000000" charset="0"/>
                <a:sym typeface="+mn-ea"/>
              </a:rPr>
              <a:t>RQ2: </a:t>
            </a: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Can LSTM or GNN outperform classical models with sparse log data?</a:t>
            </a:r>
          </a:p>
          <a:p>
            <a:pPr marL="342900" indent="-342900" algn="just">
              <a:lnSpc>
                <a:spcPct val="200000"/>
              </a:lnSpc>
              <a:spcBef>
                <a:spcPts val="0"/>
              </a:spcBef>
              <a:spcAft>
                <a:spcPts val="0"/>
              </a:spcAft>
              <a:buFont typeface="Arial" panose="020B0604020202020204" pitchFamily="34" charset="0"/>
              <a:buChar char="•"/>
            </a:pPr>
            <a:r>
              <a:rPr lang="en-US" altLang="zh-CN" sz="2100" b="1" dirty="0">
                <a:solidFill>
                  <a:schemeClr val="tx1">
                    <a:lumMod val="75000"/>
                    <a:lumOff val="25000"/>
                  </a:schemeClr>
                </a:solidFill>
                <a:latin typeface="Roboto Light" panose="02000000000000000000" charset="0"/>
                <a:cs typeface="Roboto Light" panose="02000000000000000000" charset="0"/>
                <a:sym typeface="+mn-ea"/>
              </a:rPr>
              <a:t>RQ3: </a:t>
            </a: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What are the best hybrid models (Prophet-LSTM, ARIMA-GRU) for irregular patterns?</a:t>
            </a:r>
          </a:p>
          <a:p>
            <a:pPr marL="342900" indent="-342900" algn="just">
              <a:lnSpc>
                <a:spcPct val="200000"/>
              </a:lnSpc>
              <a:spcBef>
                <a:spcPts val="0"/>
              </a:spcBef>
              <a:spcAft>
                <a:spcPts val="0"/>
              </a:spcAft>
              <a:buFont typeface="Arial" panose="020B0604020202020204" pitchFamily="34" charset="0"/>
              <a:buChar char="•"/>
            </a:pPr>
            <a:r>
              <a:rPr lang="en-US" altLang="zh-CN" sz="2100" b="1" dirty="0">
                <a:solidFill>
                  <a:schemeClr val="tx1">
                    <a:lumMod val="75000"/>
                    <a:lumOff val="25000"/>
                  </a:schemeClr>
                </a:solidFill>
                <a:latin typeface="Roboto Light" panose="02000000000000000000" charset="0"/>
                <a:cs typeface="Roboto Light" panose="02000000000000000000" charset="0"/>
                <a:sym typeface="+mn-ea"/>
              </a:rPr>
              <a:t>RQ4: </a:t>
            </a: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How do contextual events (holidays, updates) affect forecasting accuracy?</a:t>
            </a:r>
          </a:p>
          <a:p>
            <a:pPr marL="342900" indent="-342900" algn="just">
              <a:lnSpc>
                <a:spcPct val="200000"/>
              </a:lnSpc>
              <a:spcBef>
                <a:spcPts val="0"/>
              </a:spcBef>
              <a:spcAft>
                <a:spcPts val="0"/>
              </a:spcAft>
              <a:buFont typeface="Arial" panose="020B0604020202020204" pitchFamily="34" charset="0"/>
              <a:buChar char="•"/>
            </a:pPr>
            <a:r>
              <a:rPr lang="en-US" altLang="zh-CN" sz="2100" b="1" dirty="0">
                <a:solidFill>
                  <a:schemeClr val="tx1">
                    <a:lumMod val="75000"/>
                    <a:lumOff val="25000"/>
                  </a:schemeClr>
                </a:solidFill>
                <a:latin typeface="Roboto Light" panose="02000000000000000000" charset="0"/>
                <a:cs typeface="Roboto Light" panose="02000000000000000000" charset="0"/>
                <a:sym typeface="+mn-ea"/>
              </a:rPr>
              <a:t>RQ5: </a:t>
            </a: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What is the ideal design for a Python-native, batch-based forecasting tool?</a:t>
            </a:r>
            <a:endParaRPr lang="zh-CN" altLang="en-US" sz="21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5D3351B3-BD06-2F44-7301-73B562397F3E}"/>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409CB173-22C6-28DA-423C-C1DEC5843FDD}"/>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F9B03725-0984-2AF6-66AB-B8A5A686E246}"/>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8</a:t>
            </a:r>
          </a:p>
        </p:txBody>
      </p:sp>
      <p:sp>
        <p:nvSpPr>
          <p:cNvPr id="10" name="object 3">
            <a:extLst>
              <a:ext uri="{FF2B5EF4-FFF2-40B4-BE49-F238E27FC236}">
                <a16:creationId xmlns:a16="http://schemas.microsoft.com/office/drawing/2014/main" id="{7C48329E-0C17-1A22-19B7-22C2F9367883}"/>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3" name="文本框 8">
            <a:extLst>
              <a:ext uri="{FF2B5EF4-FFF2-40B4-BE49-F238E27FC236}">
                <a16:creationId xmlns:a16="http://schemas.microsoft.com/office/drawing/2014/main" id="{B48D8AB0-87DF-B439-DDB4-BC3D3ADFC4C7}"/>
              </a:ext>
            </a:extLst>
          </p:cNvPr>
          <p:cNvSpPr txBox="1"/>
          <p:nvPr/>
        </p:nvSpPr>
        <p:spPr>
          <a:xfrm>
            <a:off x="401378" y="1275937"/>
            <a:ext cx="11389243"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buClrTx/>
              <a:buSzTx/>
            </a:pPr>
            <a:r>
              <a:rPr lang="en-US" altLang="zh-CN" sz="2800" b="1" dirty="0">
                <a:solidFill>
                  <a:srgbClr val="203864"/>
                </a:solidFill>
                <a:latin typeface="Amasis MT Pro" panose="020F0502020204030204" pitchFamily="18" charset="0"/>
                <a:ea typeface="Roboto Light" panose="02000000000000000000" charset="0"/>
                <a:cs typeface="Roboto Medium" panose="02000000000000000000" charset="0"/>
                <a:sym typeface="+mn-ea"/>
              </a:rPr>
              <a:t>Research Questions</a:t>
            </a:r>
            <a:endParaRPr lang="en-US" altLang="zh-CN" sz="2800" b="1" dirty="0">
              <a:solidFill>
                <a:srgbClr val="203864"/>
              </a:solidFill>
              <a:uFillTx/>
              <a:latin typeface="Amasis MT Pro" panose="020F0502020204030204" pitchFamily="18" charset="0"/>
              <a:ea typeface="Roboto Light" panose="02000000000000000000" charset="0"/>
              <a:cs typeface="Roboto Medium" panose="02000000000000000000" charset="0"/>
              <a:sym typeface="+mn-ea"/>
            </a:endParaRPr>
          </a:p>
        </p:txBody>
      </p:sp>
    </p:spTree>
    <p:extLst>
      <p:ext uri="{BB962C8B-B14F-4D97-AF65-F5344CB8AC3E}">
        <p14:creationId xmlns:p14="http://schemas.microsoft.com/office/powerpoint/2010/main" val="3530304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C9175-CAB3-C953-AEC7-8C364840CE2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00547F9-FC76-5E5C-6E64-30D601D66DCE}"/>
              </a:ext>
            </a:extLst>
          </p:cNvPr>
          <p:cNvSpPr txBox="1"/>
          <p:nvPr/>
        </p:nvSpPr>
        <p:spPr>
          <a:xfrm>
            <a:off x="202387" y="193522"/>
            <a:ext cx="8528050" cy="707886"/>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0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Research Objectives &amp; Goals</a:t>
            </a:r>
          </a:p>
        </p:txBody>
      </p:sp>
      <p:sp>
        <p:nvSpPr>
          <p:cNvPr id="12" name="文本框 11">
            <a:extLst>
              <a:ext uri="{FF2B5EF4-FFF2-40B4-BE49-F238E27FC236}">
                <a16:creationId xmlns:a16="http://schemas.microsoft.com/office/drawing/2014/main" id="{F787B16D-7522-7FE6-10BD-E341DC637FCE}"/>
              </a:ext>
            </a:extLst>
          </p:cNvPr>
          <p:cNvSpPr txBox="1"/>
          <p:nvPr/>
        </p:nvSpPr>
        <p:spPr>
          <a:xfrm>
            <a:off x="202387" y="1349959"/>
            <a:ext cx="11588232" cy="841402"/>
          </a:xfrm>
          <a:prstGeom prst="rect">
            <a:avLst/>
          </a:prstGeom>
          <a:noFill/>
        </p:spPr>
        <p:txBody>
          <a:bodyPr wrap="square" rtlCol="0" anchor="t">
            <a:noAutofit/>
          </a:bodyPr>
          <a:lstStyle/>
          <a:p>
            <a:pPr marL="342900" indent="-342900" algn="just">
              <a:lnSpc>
                <a:spcPct val="150000"/>
              </a:lnSpc>
              <a:spcBef>
                <a:spcPts val="0"/>
              </a:spcBef>
              <a:spcAft>
                <a:spcPts val="0"/>
              </a:spcAft>
              <a:buFont typeface="Arial" panose="020B0604020202020204" pitchFamily="34" charset="0"/>
              <a:buChar char="•"/>
            </a:pPr>
            <a:r>
              <a:rPr lang="en-US" sz="2200" dirty="0"/>
              <a:t>To develop a forecasting model that uses </a:t>
            </a:r>
            <a:r>
              <a:rPr lang="en-US" sz="2200" b="1" dirty="0"/>
              <a:t>Python application usage logs </a:t>
            </a:r>
            <a:r>
              <a:rPr lang="en-US" sz="2200" dirty="0"/>
              <a:t>to predict future user engagement, enabling developers to plan and improve user experience.</a:t>
            </a:r>
            <a:endParaRPr lang="zh-CN" altLang="en-US" sz="22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7739C0F5-DC5F-422B-3AB0-2185FDB69159}"/>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308D218D-98BF-EB21-3A28-37A3536D15FE}"/>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E3F483C3-2C82-5D49-E257-7250BB4A1138}"/>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9</a:t>
            </a:r>
          </a:p>
        </p:txBody>
      </p:sp>
      <p:sp>
        <p:nvSpPr>
          <p:cNvPr id="10" name="object 3">
            <a:extLst>
              <a:ext uri="{FF2B5EF4-FFF2-40B4-BE49-F238E27FC236}">
                <a16:creationId xmlns:a16="http://schemas.microsoft.com/office/drawing/2014/main" id="{53F8FE4B-DEE1-037D-385E-47880E3527AB}"/>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3" name="文本框 8">
            <a:extLst>
              <a:ext uri="{FF2B5EF4-FFF2-40B4-BE49-F238E27FC236}">
                <a16:creationId xmlns:a16="http://schemas.microsoft.com/office/drawing/2014/main" id="{1559E3D4-AEAD-43D2-6A1A-E3B299465B60}"/>
              </a:ext>
            </a:extLst>
          </p:cNvPr>
          <p:cNvSpPr txBox="1"/>
          <p:nvPr/>
        </p:nvSpPr>
        <p:spPr>
          <a:xfrm>
            <a:off x="401378" y="978849"/>
            <a:ext cx="11389243"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buClrTx/>
              <a:buSzTx/>
            </a:pPr>
            <a:r>
              <a:rPr lang="en-US" altLang="zh-CN" sz="2800" b="1" dirty="0">
                <a:solidFill>
                  <a:srgbClr val="203864"/>
                </a:solidFill>
                <a:latin typeface="Amasis MT Pro" panose="020F0502020204030204" pitchFamily="18" charset="0"/>
                <a:ea typeface="Roboto Light" panose="02000000000000000000" charset="0"/>
                <a:cs typeface="Roboto Medium" panose="02000000000000000000" charset="0"/>
                <a:sym typeface="+mn-ea"/>
              </a:rPr>
              <a:t>Main Objective</a:t>
            </a:r>
            <a:endParaRPr lang="en-US" altLang="zh-CN" sz="2800" b="1" dirty="0">
              <a:solidFill>
                <a:srgbClr val="203864"/>
              </a:solidFill>
              <a:uFillTx/>
              <a:latin typeface="Amasis MT Pro" panose="020F0502020204030204" pitchFamily="18" charset="0"/>
              <a:ea typeface="Roboto Light" panose="02000000000000000000" charset="0"/>
              <a:cs typeface="Roboto Medium" panose="02000000000000000000" charset="0"/>
              <a:sym typeface="+mn-ea"/>
            </a:endParaRPr>
          </a:p>
        </p:txBody>
      </p:sp>
      <p:sp>
        <p:nvSpPr>
          <p:cNvPr id="4" name="文本框 8">
            <a:extLst>
              <a:ext uri="{FF2B5EF4-FFF2-40B4-BE49-F238E27FC236}">
                <a16:creationId xmlns:a16="http://schemas.microsoft.com/office/drawing/2014/main" id="{531099CF-E1BC-70F4-4CFA-AEADFEB78787}"/>
              </a:ext>
            </a:extLst>
          </p:cNvPr>
          <p:cNvSpPr txBox="1"/>
          <p:nvPr/>
        </p:nvSpPr>
        <p:spPr>
          <a:xfrm>
            <a:off x="401376" y="2740471"/>
            <a:ext cx="11389243"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buClrTx/>
              <a:buSzTx/>
            </a:pPr>
            <a:r>
              <a:rPr lang="en-US" altLang="zh-CN" sz="2800" b="1" dirty="0">
                <a:solidFill>
                  <a:srgbClr val="203864"/>
                </a:solidFill>
                <a:latin typeface="Amasis MT Pro" panose="020F0502020204030204" pitchFamily="18" charset="0"/>
                <a:ea typeface="Roboto Light" panose="02000000000000000000" charset="0"/>
                <a:cs typeface="Roboto Medium" panose="02000000000000000000" charset="0"/>
                <a:sym typeface="+mn-ea"/>
              </a:rPr>
              <a:t>Specific Objectives</a:t>
            </a:r>
            <a:endParaRPr lang="en-US" altLang="zh-CN" sz="2800" b="1" dirty="0">
              <a:solidFill>
                <a:srgbClr val="203864"/>
              </a:solidFill>
              <a:uFillTx/>
              <a:latin typeface="Amasis MT Pro" panose="020F0502020204030204" pitchFamily="18" charset="0"/>
              <a:ea typeface="Roboto Light" panose="02000000000000000000" charset="0"/>
              <a:cs typeface="Roboto Medium" panose="02000000000000000000" charset="0"/>
              <a:sym typeface="+mn-ea"/>
            </a:endParaRPr>
          </a:p>
        </p:txBody>
      </p:sp>
      <p:sp>
        <p:nvSpPr>
          <p:cNvPr id="6" name="文本框 11">
            <a:extLst>
              <a:ext uri="{FF2B5EF4-FFF2-40B4-BE49-F238E27FC236}">
                <a16:creationId xmlns:a16="http://schemas.microsoft.com/office/drawing/2014/main" id="{7936AA04-8C2C-5976-EDE7-B5EDEC458337}"/>
              </a:ext>
            </a:extLst>
          </p:cNvPr>
          <p:cNvSpPr txBox="1"/>
          <p:nvPr/>
        </p:nvSpPr>
        <p:spPr>
          <a:xfrm>
            <a:off x="202387" y="3074753"/>
            <a:ext cx="12612893" cy="2305318"/>
          </a:xfrm>
          <a:prstGeom prst="rect">
            <a:avLst/>
          </a:prstGeom>
          <a:noFill/>
        </p:spPr>
        <p:txBody>
          <a:bodyPr wrap="square" rtlCol="0" anchor="t">
            <a:noAutofit/>
          </a:bodyPr>
          <a:lstStyle/>
          <a:p>
            <a:pPr marL="342900" indent="-342900" algn="just">
              <a:lnSpc>
                <a:spcPct val="200000"/>
              </a:lnSpc>
              <a:spcBef>
                <a:spcPts val="0"/>
              </a:spcBef>
              <a:spcAft>
                <a:spcPts val="0"/>
              </a:spcAft>
              <a:buFont typeface="Arial" panose="020B0604020202020204" pitchFamily="34" charset="0"/>
              <a:buChar char="•"/>
            </a:pPr>
            <a:r>
              <a:rPr lang="en-US" sz="2100" dirty="0"/>
              <a:t>RO1: Analyze the accuracy of ARIMA and other traditional time series models.</a:t>
            </a:r>
          </a:p>
          <a:p>
            <a:pPr marL="342900" indent="-342900" algn="just">
              <a:lnSpc>
                <a:spcPct val="200000"/>
              </a:lnSpc>
              <a:spcBef>
                <a:spcPts val="0"/>
              </a:spcBef>
              <a:spcAft>
                <a:spcPts val="0"/>
              </a:spcAft>
              <a:buFont typeface="Arial" panose="020B0604020202020204" pitchFamily="34" charset="0"/>
              <a:buChar char="•"/>
            </a:pPr>
            <a:r>
              <a:rPr lang="en-US" sz="2100" dirty="0"/>
              <a:t>RO2: Evaluate how LSTM and GNN perform with evolving user behavior.</a:t>
            </a:r>
          </a:p>
          <a:p>
            <a:pPr marL="342900" indent="-342900" algn="just">
              <a:lnSpc>
                <a:spcPct val="200000"/>
              </a:lnSpc>
              <a:spcBef>
                <a:spcPts val="0"/>
              </a:spcBef>
              <a:spcAft>
                <a:spcPts val="0"/>
              </a:spcAft>
              <a:buFont typeface="Arial" panose="020B0604020202020204" pitchFamily="34" charset="0"/>
              <a:buChar char="•"/>
            </a:pPr>
            <a:r>
              <a:rPr lang="en-US" sz="2100" dirty="0"/>
              <a:t>RO3: Build a hybrid model that combines traditional and ML-based forecasting for higher accuracy.</a:t>
            </a:r>
          </a:p>
          <a:p>
            <a:pPr marL="342900" indent="-342900" algn="just">
              <a:lnSpc>
                <a:spcPct val="200000"/>
              </a:lnSpc>
              <a:spcBef>
                <a:spcPts val="0"/>
              </a:spcBef>
              <a:spcAft>
                <a:spcPts val="0"/>
              </a:spcAft>
              <a:buFont typeface="Arial" panose="020B0604020202020204" pitchFamily="34" charset="0"/>
              <a:buChar char="•"/>
            </a:pPr>
            <a:r>
              <a:rPr lang="en-US" sz="2100" dirty="0"/>
              <a:t>RO4: Improve forecasting by including internal/external events (e.g., updates, holidays).</a:t>
            </a:r>
          </a:p>
          <a:p>
            <a:pPr marL="342900" indent="-342900" algn="just">
              <a:lnSpc>
                <a:spcPct val="200000"/>
              </a:lnSpc>
              <a:spcBef>
                <a:spcPts val="0"/>
              </a:spcBef>
              <a:spcAft>
                <a:spcPts val="0"/>
              </a:spcAft>
              <a:buFont typeface="Arial" panose="020B0604020202020204" pitchFamily="34" charset="0"/>
              <a:buChar char="•"/>
            </a:pPr>
            <a:r>
              <a:rPr lang="en-US" sz="2100" dirty="0"/>
              <a:t>RO5: Design a Python-native, automated forecasting system for developer use.</a:t>
            </a:r>
            <a:endParaRPr lang="zh-CN" altLang="en-US" sz="2100" dirty="0">
              <a:solidFill>
                <a:schemeClr val="tx1">
                  <a:lumMod val="75000"/>
                  <a:lumOff val="25000"/>
                </a:schemeClr>
              </a:solidFill>
              <a:latin typeface="Roboto Light" panose="02000000000000000000" charset="0"/>
              <a:cs typeface="Roboto Light" panose="02000000000000000000" charset="0"/>
              <a:sym typeface="+mn-ea"/>
            </a:endParaRPr>
          </a:p>
        </p:txBody>
      </p:sp>
    </p:spTree>
    <p:extLst>
      <p:ext uri="{BB962C8B-B14F-4D97-AF65-F5344CB8AC3E}">
        <p14:creationId xmlns:p14="http://schemas.microsoft.com/office/powerpoint/2010/main" val="4072729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3337-E72F-095B-A99A-24B0F91D808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93A6BBB-1BB4-1D98-C5CD-009D8B2AC122}"/>
              </a:ext>
            </a:extLst>
          </p:cNvPr>
          <p:cNvPicPr>
            <a:picLocks noChangeAspect="1"/>
          </p:cNvPicPr>
          <p:nvPr/>
        </p:nvPicPr>
        <p:blipFill>
          <a:blip r:embed="rId3"/>
          <a:stretch>
            <a:fillRect/>
          </a:stretch>
        </p:blipFill>
        <p:spPr>
          <a:xfrm>
            <a:off x="1236679" y="384174"/>
            <a:ext cx="7460634" cy="6298065"/>
          </a:xfrm>
          <a:prstGeom prst="rect">
            <a:avLst/>
          </a:prstGeom>
        </p:spPr>
      </p:pic>
      <p:sp>
        <p:nvSpPr>
          <p:cNvPr id="2" name="文本框 1">
            <a:extLst>
              <a:ext uri="{FF2B5EF4-FFF2-40B4-BE49-F238E27FC236}">
                <a16:creationId xmlns:a16="http://schemas.microsoft.com/office/drawing/2014/main" id="{F647E0C2-F31D-BFA8-4CE4-F28FBF66D914}"/>
              </a:ext>
            </a:extLst>
          </p:cNvPr>
          <p:cNvSpPr txBox="1"/>
          <p:nvPr/>
        </p:nvSpPr>
        <p:spPr>
          <a:xfrm>
            <a:off x="364490" y="74070"/>
            <a:ext cx="8528050" cy="40011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20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Research Questions and Research Objectives mapping</a:t>
            </a:r>
          </a:p>
        </p:txBody>
      </p:sp>
      <p:sp>
        <p:nvSpPr>
          <p:cNvPr id="5" name="object 2">
            <a:extLst>
              <a:ext uri="{FF2B5EF4-FFF2-40B4-BE49-F238E27FC236}">
                <a16:creationId xmlns:a16="http://schemas.microsoft.com/office/drawing/2014/main" id="{A442D95D-064F-0654-8BEF-9904C4F9E38F}"/>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D1F902B0-C166-0557-1426-6D7302E780A8}"/>
              </a:ext>
            </a:extLst>
          </p:cNvPr>
          <p:cNvPicPr/>
          <p:nvPr/>
        </p:nvPicPr>
        <p:blipFill>
          <a:blip r:embed="rId4"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186BA040-5031-DCB9-55E9-DA5E65ED1B24}"/>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10</a:t>
            </a:r>
          </a:p>
        </p:txBody>
      </p:sp>
      <p:sp>
        <p:nvSpPr>
          <p:cNvPr id="10" name="object 3">
            <a:extLst>
              <a:ext uri="{FF2B5EF4-FFF2-40B4-BE49-F238E27FC236}">
                <a16:creationId xmlns:a16="http://schemas.microsoft.com/office/drawing/2014/main" id="{C42F6B4A-6553-BF9F-6383-B4A44FF270D7}"/>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3" name="TextBox 2">
            <a:extLst>
              <a:ext uri="{FF2B5EF4-FFF2-40B4-BE49-F238E27FC236}">
                <a16:creationId xmlns:a16="http://schemas.microsoft.com/office/drawing/2014/main" id="{B9CE391B-BA91-B3E4-ACC2-EF5EF687123E}"/>
              </a:ext>
            </a:extLst>
          </p:cNvPr>
          <p:cNvSpPr txBox="1"/>
          <p:nvPr/>
        </p:nvSpPr>
        <p:spPr>
          <a:xfrm>
            <a:off x="8697313" y="3826304"/>
            <a:ext cx="3165793" cy="738664"/>
          </a:xfrm>
          <a:prstGeom prst="rect">
            <a:avLst/>
          </a:prstGeom>
          <a:noFill/>
        </p:spPr>
        <p:txBody>
          <a:bodyPr wrap="square" rtlCol="0">
            <a:spAutoFit/>
          </a:bodyPr>
          <a:lstStyle/>
          <a:p>
            <a:r>
              <a:rPr lang="en-US" sz="1400" i="1" dirty="0"/>
              <a:t>Figure 3 : 	Research Questions and  	Research Objectives 	mapping</a:t>
            </a:r>
          </a:p>
        </p:txBody>
      </p:sp>
    </p:spTree>
    <p:extLst>
      <p:ext uri="{BB962C8B-B14F-4D97-AF65-F5344CB8AC3E}">
        <p14:creationId xmlns:p14="http://schemas.microsoft.com/office/powerpoint/2010/main" val="1385232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7D17-4C8B-E0C9-436B-5B99BDB3B60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77088CE-8C3B-9A52-0951-253609513640}"/>
              </a:ext>
            </a:extLst>
          </p:cNvPr>
          <p:cNvSpPr txBox="1"/>
          <p:nvPr/>
        </p:nvSpPr>
        <p:spPr>
          <a:xfrm>
            <a:off x="202387" y="193522"/>
            <a:ext cx="8528050" cy="707886"/>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0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Proposed Research Methods</a:t>
            </a:r>
          </a:p>
        </p:txBody>
      </p:sp>
      <p:sp>
        <p:nvSpPr>
          <p:cNvPr id="5" name="object 2">
            <a:extLst>
              <a:ext uri="{FF2B5EF4-FFF2-40B4-BE49-F238E27FC236}">
                <a16:creationId xmlns:a16="http://schemas.microsoft.com/office/drawing/2014/main" id="{D6F21336-26BC-61AD-913F-066192CDA57A}"/>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1C7F8110-399B-E220-1190-BB2F07FB4BBD}"/>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85ABB091-9B8A-1106-48AF-17A3E7B8C07D}"/>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10</a:t>
            </a:r>
          </a:p>
        </p:txBody>
      </p:sp>
      <p:sp>
        <p:nvSpPr>
          <p:cNvPr id="10" name="object 3">
            <a:extLst>
              <a:ext uri="{FF2B5EF4-FFF2-40B4-BE49-F238E27FC236}">
                <a16:creationId xmlns:a16="http://schemas.microsoft.com/office/drawing/2014/main" id="{D3F629A8-5D00-A792-6C7F-8220D2B0FE5F}"/>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grpSp>
        <p:nvGrpSpPr>
          <p:cNvPr id="9" name="Group 8">
            <a:extLst>
              <a:ext uri="{FF2B5EF4-FFF2-40B4-BE49-F238E27FC236}">
                <a16:creationId xmlns:a16="http://schemas.microsoft.com/office/drawing/2014/main" id="{98B43517-5077-31FF-94AB-D272C763C28A}"/>
              </a:ext>
            </a:extLst>
          </p:cNvPr>
          <p:cNvGrpSpPr/>
          <p:nvPr/>
        </p:nvGrpSpPr>
        <p:grpSpPr>
          <a:xfrm>
            <a:off x="463143" y="1622941"/>
            <a:ext cx="11265713" cy="3919894"/>
            <a:chOff x="463143" y="1622941"/>
            <a:chExt cx="11265713" cy="3919894"/>
          </a:xfrm>
        </p:grpSpPr>
        <p:pic>
          <p:nvPicPr>
            <p:cNvPr id="7" name="Picture 6">
              <a:extLst>
                <a:ext uri="{FF2B5EF4-FFF2-40B4-BE49-F238E27FC236}">
                  <a16:creationId xmlns:a16="http://schemas.microsoft.com/office/drawing/2014/main" id="{1946CA7B-EAC7-46DE-FED5-A8ACF5F31376}"/>
                </a:ext>
              </a:extLst>
            </p:cNvPr>
            <p:cNvPicPr>
              <a:picLocks noChangeAspect="1"/>
            </p:cNvPicPr>
            <p:nvPr/>
          </p:nvPicPr>
          <p:blipFill>
            <a:blip r:embed="rId4"/>
            <a:stretch>
              <a:fillRect/>
            </a:stretch>
          </p:blipFill>
          <p:spPr>
            <a:xfrm>
              <a:off x="463143" y="1622941"/>
              <a:ext cx="11265713" cy="3612117"/>
            </a:xfrm>
            <a:prstGeom prst="rect">
              <a:avLst/>
            </a:prstGeom>
          </p:spPr>
        </p:pic>
        <p:sp>
          <p:nvSpPr>
            <p:cNvPr id="8" name="TextBox 7">
              <a:extLst>
                <a:ext uri="{FF2B5EF4-FFF2-40B4-BE49-F238E27FC236}">
                  <a16:creationId xmlns:a16="http://schemas.microsoft.com/office/drawing/2014/main" id="{64EEE069-AEEA-1C1B-7795-9F374E1DD920}"/>
                </a:ext>
              </a:extLst>
            </p:cNvPr>
            <p:cNvSpPr txBox="1"/>
            <p:nvPr/>
          </p:nvSpPr>
          <p:spPr>
            <a:xfrm>
              <a:off x="4258468" y="5235058"/>
              <a:ext cx="3165793" cy="307777"/>
            </a:xfrm>
            <a:prstGeom prst="rect">
              <a:avLst/>
            </a:prstGeom>
            <a:noFill/>
          </p:spPr>
          <p:txBody>
            <a:bodyPr wrap="square" rtlCol="0">
              <a:spAutoFit/>
            </a:bodyPr>
            <a:lstStyle/>
            <a:p>
              <a:r>
                <a:rPr lang="en-US" sz="1400" i="1" dirty="0"/>
                <a:t>Figure 4 : Proposed Research Methods</a:t>
              </a:r>
            </a:p>
          </p:txBody>
        </p:sp>
      </p:grpSp>
    </p:spTree>
    <p:extLst>
      <p:ext uri="{BB962C8B-B14F-4D97-AF65-F5344CB8AC3E}">
        <p14:creationId xmlns:p14="http://schemas.microsoft.com/office/powerpoint/2010/main" val="960931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E6E94-EED3-5B2B-9E6D-6389730078E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CEA39E2-3D5C-10DC-2F6B-D2487537ED44}"/>
              </a:ext>
            </a:extLst>
          </p:cNvPr>
          <p:cNvSpPr txBox="1"/>
          <p:nvPr/>
        </p:nvSpPr>
        <p:spPr>
          <a:xfrm>
            <a:off x="202387" y="193522"/>
            <a:ext cx="8528050" cy="707886"/>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0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Proposed Research Methods</a:t>
            </a:r>
          </a:p>
        </p:txBody>
      </p:sp>
      <p:sp>
        <p:nvSpPr>
          <p:cNvPr id="5" name="object 2">
            <a:extLst>
              <a:ext uri="{FF2B5EF4-FFF2-40B4-BE49-F238E27FC236}">
                <a16:creationId xmlns:a16="http://schemas.microsoft.com/office/drawing/2014/main" id="{1BB9D817-7CD4-CEC4-4525-CB6A1C0AED6A}"/>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CFD7BA7E-142D-BB3D-7A08-185855C29DA3}"/>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378C0A5D-EC8A-0A96-954C-33F6CBE86083}"/>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11</a:t>
            </a:r>
          </a:p>
        </p:txBody>
      </p:sp>
      <p:sp>
        <p:nvSpPr>
          <p:cNvPr id="10" name="object 3">
            <a:extLst>
              <a:ext uri="{FF2B5EF4-FFF2-40B4-BE49-F238E27FC236}">
                <a16:creationId xmlns:a16="http://schemas.microsoft.com/office/drawing/2014/main" id="{A79AF002-D7E1-0FBC-7B1D-EDEDFD20DCA9}"/>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8" name="TextBox 7">
            <a:extLst>
              <a:ext uri="{FF2B5EF4-FFF2-40B4-BE49-F238E27FC236}">
                <a16:creationId xmlns:a16="http://schemas.microsoft.com/office/drawing/2014/main" id="{B9D6CD13-8FA4-9024-34EC-407229311A3F}"/>
              </a:ext>
            </a:extLst>
          </p:cNvPr>
          <p:cNvSpPr txBox="1"/>
          <p:nvPr/>
        </p:nvSpPr>
        <p:spPr>
          <a:xfrm>
            <a:off x="4091295" y="5484037"/>
            <a:ext cx="4297700" cy="307777"/>
          </a:xfrm>
          <a:prstGeom prst="rect">
            <a:avLst/>
          </a:prstGeom>
          <a:noFill/>
        </p:spPr>
        <p:txBody>
          <a:bodyPr wrap="square" rtlCol="0">
            <a:spAutoFit/>
          </a:bodyPr>
          <a:lstStyle/>
          <a:p>
            <a:r>
              <a:rPr lang="en-US" sz="1400" i="1" dirty="0"/>
              <a:t>Figure 5 : Proposed Research Methods – Explanation </a:t>
            </a:r>
          </a:p>
        </p:txBody>
      </p:sp>
      <p:graphicFrame>
        <p:nvGraphicFramePr>
          <p:cNvPr id="11" name="Table 10">
            <a:extLst>
              <a:ext uri="{FF2B5EF4-FFF2-40B4-BE49-F238E27FC236}">
                <a16:creationId xmlns:a16="http://schemas.microsoft.com/office/drawing/2014/main" id="{2119C14A-D692-B30F-3886-BE5A390B306F}"/>
              </a:ext>
            </a:extLst>
          </p:cNvPr>
          <p:cNvGraphicFramePr>
            <a:graphicFrameLocks noGrp="1"/>
          </p:cNvGraphicFramePr>
          <p:nvPr>
            <p:extLst>
              <p:ext uri="{D42A27DB-BD31-4B8C-83A1-F6EECF244321}">
                <p14:modId xmlns:p14="http://schemas.microsoft.com/office/powerpoint/2010/main" val="3209541666"/>
              </p:ext>
            </p:extLst>
          </p:nvPr>
        </p:nvGraphicFramePr>
        <p:xfrm>
          <a:off x="656058" y="943490"/>
          <a:ext cx="10879883" cy="4463416"/>
        </p:xfrm>
        <a:graphic>
          <a:graphicData uri="http://schemas.openxmlformats.org/drawingml/2006/table">
            <a:tbl>
              <a:tblPr firstRow="1" bandRow="1">
                <a:tableStyleId>{5C22544A-7EE6-4342-B048-85BDC9FD1C3A}</a:tableStyleId>
              </a:tblPr>
              <a:tblGrid>
                <a:gridCol w="2932772">
                  <a:extLst>
                    <a:ext uri="{9D8B030D-6E8A-4147-A177-3AD203B41FA5}">
                      <a16:colId xmlns:a16="http://schemas.microsoft.com/office/drawing/2014/main" val="20000"/>
                    </a:ext>
                  </a:extLst>
                </a:gridCol>
                <a:gridCol w="7947111">
                  <a:extLst>
                    <a:ext uri="{9D8B030D-6E8A-4147-A177-3AD203B41FA5}">
                      <a16:colId xmlns:a16="http://schemas.microsoft.com/office/drawing/2014/main" val="20001"/>
                    </a:ext>
                  </a:extLst>
                </a:gridCol>
              </a:tblGrid>
              <a:tr h="417820">
                <a:tc>
                  <a:txBody>
                    <a:bodyPr/>
                    <a:lstStyle/>
                    <a:p>
                      <a:pPr algn="ctr"/>
                      <a:r>
                        <a:rPr sz="1600" dirty="0"/>
                        <a:t>Step</a:t>
                      </a:r>
                    </a:p>
                  </a:txBody>
                  <a:tcPr anchor="ctr"/>
                </a:tc>
                <a:tc>
                  <a:txBody>
                    <a:bodyPr/>
                    <a:lstStyle/>
                    <a:p>
                      <a:pPr algn="ctr"/>
                      <a:r>
                        <a:rPr sz="1600" dirty="0"/>
                        <a:t>Description</a:t>
                      </a:r>
                    </a:p>
                  </a:txBody>
                  <a:tcPr anchor="ctr"/>
                </a:tc>
                <a:extLst>
                  <a:ext uri="{0D108BD9-81ED-4DB2-BD59-A6C34878D82A}">
                    <a16:rowId xmlns:a16="http://schemas.microsoft.com/office/drawing/2014/main" val="10000"/>
                  </a:ext>
                </a:extLst>
              </a:tr>
              <a:tr h="817727">
                <a:tc>
                  <a:txBody>
                    <a:bodyPr/>
                    <a:lstStyle/>
                    <a:p>
                      <a:r>
                        <a:rPr sz="1600" dirty="0"/>
                        <a:t>1. Usage Log Collection</a:t>
                      </a:r>
                    </a:p>
                  </a:txBody>
                  <a:tcPr anchor="ctr"/>
                </a:tc>
                <a:tc>
                  <a:txBody>
                    <a:bodyPr/>
                    <a:lstStyle/>
                    <a:p>
                      <a:pPr>
                        <a:lnSpc>
                          <a:spcPct val="150000"/>
                        </a:lnSpc>
                      </a:pPr>
                      <a:r>
                        <a:rPr sz="1600" dirty="0"/>
                        <a:t>Collect real or simulated logs from Python apps (timestamps, sessions, feature usage) using tools like Faker and Locust if needed.</a:t>
                      </a:r>
                    </a:p>
                  </a:txBody>
                  <a:tcPr anchor="ctr"/>
                </a:tc>
                <a:extLst>
                  <a:ext uri="{0D108BD9-81ED-4DB2-BD59-A6C34878D82A}">
                    <a16:rowId xmlns:a16="http://schemas.microsoft.com/office/drawing/2014/main" val="10001"/>
                  </a:ext>
                </a:extLst>
              </a:tr>
              <a:tr h="817727">
                <a:tc>
                  <a:txBody>
                    <a:bodyPr/>
                    <a:lstStyle/>
                    <a:p>
                      <a:r>
                        <a:rPr sz="1600" dirty="0"/>
                        <a:t>2. Time Series Preprocessing</a:t>
                      </a:r>
                    </a:p>
                  </a:txBody>
                  <a:tcPr anchor="ctr"/>
                </a:tc>
                <a:tc>
                  <a:txBody>
                    <a:bodyPr/>
                    <a:lstStyle/>
                    <a:p>
                      <a:pPr>
                        <a:lnSpc>
                          <a:spcPct val="150000"/>
                        </a:lnSpc>
                      </a:pPr>
                      <a:r>
                        <a:rPr sz="1600" dirty="0"/>
                        <a:t>Clean logs, handle missing data, remove outliers, aggregate into time intervals (e.g., DAU), and add contextual features (holidays, releases).</a:t>
                      </a:r>
                    </a:p>
                  </a:txBody>
                  <a:tcPr anchor="ctr"/>
                </a:tc>
                <a:extLst>
                  <a:ext uri="{0D108BD9-81ED-4DB2-BD59-A6C34878D82A}">
                    <a16:rowId xmlns:a16="http://schemas.microsoft.com/office/drawing/2014/main" val="10002"/>
                  </a:ext>
                </a:extLst>
              </a:tr>
              <a:tr h="1592415">
                <a:tc>
                  <a:txBody>
                    <a:bodyPr/>
                    <a:lstStyle/>
                    <a:p>
                      <a:r>
                        <a:rPr sz="1600" dirty="0"/>
                        <a:t>3. Model Design &amp; Training</a:t>
                      </a:r>
                    </a:p>
                  </a:txBody>
                  <a:tcPr anchor="ctr"/>
                </a:tc>
                <a:tc>
                  <a:txBody>
                    <a:bodyPr/>
                    <a:lstStyle/>
                    <a:p>
                      <a:pPr>
                        <a:lnSpc>
                          <a:spcPct val="150000"/>
                        </a:lnSpc>
                      </a:pPr>
                      <a:r>
                        <a:rPr sz="1600" dirty="0"/>
                        <a:t>Build and compare three types of models:</a:t>
                      </a:r>
                    </a:p>
                    <a:p>
                      <a:pPr marL="285750" indent="-285750">
                        <a:lnSpc>
                          <a:spcPct val="150000"/>
                        </a:lnSpc>
                        <a:buFont typeface="Arial" panose="020B0604020202020204" pitchFamily="34" charset="0"/>
                        <a:buChar char="•"/>
                      </a:pPr>
                      <a:r>
                        <a:rPr sz="1600" dirty="0"/>
                        <a:t>ARIMA (linear trends)</a:t>
                      </a:r>
                    </a:p>
                    <a:p>
                      <a:pPr marL="285750" indent="-285750">
                        <a:lnSpc>
                          <a:spcPct val="150000"/>
                        </a:lnSpc>
                        <a:buFont typeface="Arial" panose="020B0604020202020204" pitchFamily="34" charset="0"/>
                        <a:buChar char="•"/>
                      </a:pPr>
                      <a:r>
                        <a:rPr sz="1600" dirty="0"/>
                        <a:t>LSTM/GRU (nonlinear, long-term patterns)</a:t>
                      </a:r>
                    </a:p>
                    <a:p>
                      <a:pPr marL="285750" indent="-285750">
                        <a:lnSpc>
                          <a:spcPct val="150000"/>
                        </a:lnSpc>
                        <a:buFont typeface="Arial" panose="020B0604020202020204" pitchFamily="34" charset="0"/>
                        <a:buChar char="•"/>
                      </a:pPr>
                      <a:r>
                        <a:rPr sz="1600" dirty="0"/>
                        <a:t>Hybrid models (e.g., Prophet-LSTM, ARIMA-GRU).</a:t>
                      </a:r>
                    </a:p>
                  </a:txBody>
                  <a:tcPr anchor="ctr"/>
                </a:tc>
                <a:extLst>
                  <a:ext uri="{0D108BD9-81ED-4DB2-BD59-A6C34878D82A}">
                    <a16:rowId xmlns:a16="http://schemas.microsoft.com/office/drawing/2014/main" val="10003"/>
                  </a:ext>
                </a:extLst>
              </a:tr>
              <a:tr h="817727">
                <a:tc>
                  <a:txBody>
                    <a:bodyPr/>
                    <a:lstStyle/>
                    <a:p>
                      <a:r>
                        <a:rPr sz="1600" dirty="0"/>
                        <a:t>4. Forecast Evaluation</a:t>
                      </a:r>
                    </a:p>
                  </a:txBody>
                  <a:tcPr anchor="ctr"/>
                </a:tc>
                <a:tc>
                  <a:txBody>
                    <a:bodyPr/>
                    <a:lstStyle/>
                    <a:p>
                      <a:pPr>
                        <a:lnSpc>
                          <a:spcPct val="150000"/>
                        </a:lnSpc>
                      </a:pPr>
                      <a:r>
                        <a:rPr sz="1600" dirty="0"/>
                        <a:t>Evaluate using accuracy metrics: MAE, RMSE, MAPE. Test performance under sparse and burst usage patterns.</a:t>
                      </a:r>
                    </a:p>
                  </a:txBody>
                  <a:tcPr anchor="ctr"/>
                </a:tc>
                <a:extLst>
                  <a:ext uri="{0D108BD9-81ED-4DB2-BD59-A6C34878D82A}">
                    <a16:rowId xmlns:a16="http://schemas.microsoft.com/office/drawing/2014/main" val="10004"/>
                  </a:ext>
                </a:extLst>
              </a:tr>
            </a:tbl>
          </a:graphicData>
        </a:graphic>
      </p:graphicFrame>
      <p:sp>
        <p:nvSpPr>
          <p:cNvPr id="4" name="TextBox 3">
            <a:extLst>
              <a:ext uri="{FF2B5EF4-FFF2-40B4-BE49-F238E27FC236}">
                <a16:creationId xmlns:a16="http://schemas.microsoft.com/office/drawing/2014/main" id="{58F55240-BE18-876F-0FFC-435EB3759939}"/>
              </a:ext>
            </a:extLst>
          </p:cNvPr>
          <p:cNvSpPr txBox="1"/>
          <p:nvPr/>
        </p:nvSpPr>
        <p:spPr>
          <a:xfrm>
            <a:off x="509714" y="5706070"/>
            <a:ext cx="11026227" cy="789319"/>
          </a:xfrm>
          <a:prstGeom prst="rect">
            <a:avLst/>
          </a:prstGeom>
          <a:noFill/>
        </p:spPr>
        <p:txBody>
          <a:bodyPr wrap="square">
            <a:spAutoFit/>
          </a:bodyPr>
          <a:lstStyle/>
          <a:p>
            <a:pPr algn="ctr">
              <a:lnSpc>
                <a:spcPct val="150000"/>
              </a:lnSpc>
            </a:pPr>
            <a:r>
              <a:rPr lang="en-US" sz="1600" b="1" dirty="0">
                <a:effectLst/>
                <a:latin typeface="Times New Roman" panose="02020603050405020304" pitchFamily="18" charset="0"/>
                <a:ea typeface="Calibri" panose="020F0502020204030204" pitchFamily="34" charset="0"/>
              </a:rPr>
              <a:t>GRU </a:t>
            </a:r>
            <a:r>
              <a:rPr lang="en-US" sz="1600" dirty="0">
                <a:effectLst/>
                <a:latin typeface="Times New Roman" panose="02020603050405020304" pitchFamily="18" charset="0"/>
                <a:ea typeface="Calibri" panose="020F0502020204030204" pitchFamily="34" charset="0"/>
              </a:rPr>
              <a:t>(Gated Recurrent Unit)  and  </a:t>
            </a:r>
            <a:r>
              <a:rPr lang="en-US" sz="1600" b="1" dirty="0">
                <a:effectLst/>
                <a:latin typeface="Times New Roman" panose="02020603050405020304" pitchFamily="18" charset="0"/>
                <a:ea typeface="Calibri" panose="020F0502020204030204" pitchFamily="34" charset="0"/>
              </a:rPr>
              <a:t>MAE</a:t>
            </a:r>
            <a:r>
              <a:rPr lang="en-US" sz="1600" dirty="0">
                <a:effectLst/>
                <a:latin typeface="Times New Roman" panose="02020603050405020304" pitchFamily="18" charset="0"/>
                <a:ea typeface="Calibri" panose="020F0502020204030204" pitchFamily="34" charset="0"/>
              </a:rPr>
              <a:t> (Mean Absolute Error)  and  </a:t>
            </a:r>
          </a:p>
          <a:p>
            <a:pPr algn="ctr">
              <a:lnSpc>
                <a:spcPct val="150000"/>
              </a:lnSpc>
            </a:pPr>
            <a:r>
              <a:rPr lang="en-US" sz="1600" b="1" dirty="0">
                <a:effectLst/>
                <a:latin typeface="Times New Roman" panose="02020603050405020304" pitchFamily="18" charset="0"/>
                <a:ea typeface="Calibri" panose="020F0502020204030204" pitchFamily="34" charset="0"/>
              </a:rPr>
              <a:t>RMSE</a:t>
            </a:r>
            <a:r>
              <a:rPr lang="en-US" sz="1600" dirty="0">
                <a:effectLst/>
                <a:latin typeface="Times New Roman" panose="02020603050405020304" pitchFamily="18" charset="0"/>
                <a:ea typeface="Calibri" panose="020F0502020204030204" pitchFamily="34" charset="0"/>
              </a:rPr>
              <a:t> (Root Mean Squared Error)  and  </a:t>
            </a:r>
            <a:r>
              <a:rPr lang="en-US" sz="1600" b="1" dirty="0">
                <a:effectLst/>
                <a:latin typeface="Times New Roman" panose="02020603050405020304" pitchFamily="18" charset="0"/>
                <a:ea typeface="Calibri" panose="020F0502020204030204" pitchFamily="34" charset="0"/>
              </a:rPr>
              <a:t>MAPE</a:t>
            </a:r>
            <a:r>
              <a:rPr lang="en-US" sz="1600" dirty="0">
                <a:effectLst/>
                <a:latin typeface="Times New Roman" panose="02020603050405020304" pitchFamily="18" charset="0"/>
                <a:ea typeface="Calibri" panose="020F0502020204030204" pitchFamily="34" charset="0"/>
              </a:rPr>
              <a:t> (Mean Absolute Percentage Error)</a:t>
            </a:r>
            <a:endParaRPr lang="en-US" sz="1600" dirty="0"/>
          </a:p>
        </p:txBody>
      </p:sp>
    </p:spTree>
    <p:extLst>
      <p:ext uri="{BB962C8B-B14F-4D97-AF65-F5344CB8AC3E}">
        <p14:creationId xmlns:p14="http://schemas.microsoft.com/office/powerpoint/2010/main" val="1765818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8D971-4C27-46A1-FB71-F45AC662A34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4207590-0164-09B3-06B2-AA351F0E7C8E}"/>
              </a:ext>
            </a:extLst>
          </p:cNvPr>
          <p:cNvSpPr txBox="1"/>
          <p:nvPr/>
        </p:nvSpPr>
        <p:spPr>
          <a:xfrm>
            <a:off x="202387" y="193522"/>
            <a:ext cx="8528050" cy="707886"/>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40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Proposed Research Methods</a:t>
            </a:r>
          </a:p>
        </p:txBody>
      </p:sp>
      <p:sp>
        <p:nvSpPr>
          <p:cNvPr id="5" name="object 2">
            <a:extLst>
              <a:ext uri="{FF2B5EF4-FFF2-40B4-BE49-F238E27FC236}">
                <a16:creationId xmlns:a16="http://schemas.microsoft.com/office/drawing/2014/main" id="{E7D89829-E39C-FF67-1C30-B46B4DEE09CE}"/>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CCBD2A40-A35D-7873-6C5B-CC2291A70AFC}"/>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2361B4C0-FE48-5AAC-075E-F18BA58CE5DA}"/>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12</a:t>
            </a:r>
          </a:p>
        </p:txBody>
      </p:sp>
      <p:sp>
        <p:nvSpPr>
          <p:cNvPr id="10" name="object 3">
            <a:extLst>
              <a:ext uri="{FF2B5EF4-FFF2-40B4-BE49-F238E27FC236}">
                <a16:creationId xmlns:a16="http://schemas.microsoft.com/office/drawing/2014/main" id="{BDE9EE1F-7151-03F3-E073-565A0FF4AE6B}"/>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graphicFrame>
        <p:nvGraphicFramePr>
          <p:cNvPr id="4" name="Table 3">
            <a:extLst>
              <a:ext uri="{FF2B5EF4-FFF2-40B4-BE49-F238E27FC236}">
                <a16:creationId xmlns:a16="http://schemas.microsoft.com/office/drawing/2014/main" id="{6588D439-95C5-87A8-7B42-2091C6840F27}"/>
              </a:ext>
            </a:extLst>
          </p:cNvPr>
          <p:cNvGraphicFramePr>
            <a:graphicFrameLocks noGrp="1"/>
          </p:cNvGraphicFramePr>
          <p:nvPr>
            <p:extLst>
              <p:ext uri="{D42A27DB-BD31-4B8C-83A1-F6EECF244321}">
                <p14:modId xmlns:p14="http://schemas.microsoft.com/office/powerpoint/2010/main" val="1709480466"/>
              </p:ext>
            </p:extLst>
          </p:nvPr>
        </p:nvGraphicFramePr>
        <p:xfrm>
          <a:off x="298131" y="1119597"/>
          <a:ext cx="11595735" cy="4324350"/>
        </p:xfrm>
        <a:graphic>
          <a:graphicData uri="http://schemas.openxmlformats.org/drawingml/2006/table">
            <a:tbl>
              <a:tblPr firstRow="1" bandRow="1">
                <a:tableStyleId>{5C22544A-7EE6-4342-B048-85BDC9FD1C3A}</a:tableStyleId>
              </a:tblPr>
              <a:tblGrid>
                <a:gridCol w="3125736">
                  <a:extLst>
                    <a:ext uri="{9D8B030D-6E8A-4147-A177-3AD203B41FA5}">
                      <a16:colId xmlns:a16="http://schemas.microsoft.com/office/drawing/2014/main" val="2001725419"/>
                    </a:ext>
                  </a:extLst>
                </a:gridCol>
                <a:gridCol w="8469999">
                  <a:extLst>
                    <a:ext uri="{9D8B030D-6E8A-4147-A177-3AD203B41FA5}">
                      <a16:colId xmlns:a16="http://schemas.microsoft.com/office/drawing/2014/main" val="714580963"/>
                    </a:ext>
                  </a:extLst>
                </a:gridCol>
              </a:tblGrid>
              <a:tr h="514350">
                <a:tc>
                  <a:txBody>
                    <a:bodyPr/>
                    <a:lstStyle/>
                    <a:p>
                      <a:pPr algn="ctr"/>
                      <a:r>
                        <a:rPr sz="1600" dirty="0"/>
                        <a:t>Step</a:t>
                      </a:r>
                    </a:p>
                  </a:txBody>
                  <a:tcPr anchor="ctr"/>
                </a:tc>
                <a:tc>
                  <a:txBody>
                    <a:bodyPr/>
                    <a:lstStyle/>
                    <a:p>
                      <a:pPr algn="ctr"/>
                      <a:r>
                        <a:rPr sz="1600" dirty="0"/>
                        <a:t>Description</a:t>
                      </a:r>
                    </a:p>
                  </a:txBody>
                  <a:tcPr anchor="ctr"/>
                </a:tc>
                <a:extLst>
                  <a:ext uri="{0D108BD9-81ED-4DB2-BD59-A6C34878D82A}">
                    <a16:rowId xmlns:a16="http://schemas.microsoft.com/office/drawing/2014/main" val="3304179039"/>
                  </a:ext>
                </a:extLst>
              </a:tr>
              <a:tr h="514350">
                <a:tc>
                  <a:txBody>
                    <a:bodyPr/>
                    <a:lstStyle/>
                    <a:p>
                      <a:r>
                        <a:rPr sz="1600" dirty="0"/>
                        <a:t>5. Tool Development</a:t>
                      </a:r>
                    </a:p>
                  </a:txBody>
                  <a:tcPr anchor="ctr"/>
                </a:tc>
                <a:tc>
                  <a:txBody>
                    <a:bodyPr/>
                    <a:lstStyle/>
                    <a:p>
                      <a:pPr>
                        <a:lnSpc>
                          <a:spcPct val="150000"/>
                        </a:lnSpc>
                      </a:pPr>
                      <a:r>
                        <a:rPr sz="1600" dirty="0"/>
                        <a:t>Build a Python-based forecasting tool using:</a:t>
                      </a:r>
                    </a:p>
                    <a:p>
                      <a:pPr marL="285750" indent="-285750">
                        <a:lnSpc>
                          <a:spcPct val="150000"/>
                        </a:lnSpc>
                        <a:buFont typeface="Arial" panose="020B0604020202020204" pitchFamily="34" charset="0"/>
                        <a:buChar char="•"/>
                      </a:pPr>
                      <a:r>
                        <a:rPr sz="1600" dirty="0"/>
                        <a:t>FastAPI for REST API</a:t>
                      </a:r>
                    </a:p>
                    <a:p>
                      <a:pPr marL="285750" indent="-285750">
                        <a:lnSpc>
                          <a:spcPct val="150000"/>
                        </a:lnSpc>
                        <a:buFont typeface="Arial" panose="020B0604020202020204" pitchFamily="34" charset="0"/>
                        <a:buChar char="•"/>
                      </a:pPr>
                      <a:r>
                        <a:rPr sz="1600" dirty="0"/>
                        <a:t>TensorFlow/Prophet for modeling</a:t>
                      </a:r>
                    </a:p>
                    <a:p>
                      <a:pPr marL="285750" indent="-285750">
                        <a:lnSpc>
                          <a:spcPct val="150000"/>
                        </a:lnSpc>
                        <a:buFont typeface="Arial" panose="020B0604020202020204" pitchFamily="34" charset="0"/>
                        <a:buChar char="•"/>
                      </a:pPr>
                      <a:r>
                        <a:rPr sz="1600" dirty="0"/>
                        <a:t>Matplotlib/Seaborn for visualization.</a:t>
                      </a:r>
                    </a:p>
                  </a:txBody>
                  <a:tcPr/>
                </a:tc>
                <a:extLst>
                  <a:ext uri="{0D108BD9-81ED-4DB2-BD59-A6C34878D82A}">
                    <a16:rowId xmlns:a16="http://schemas.microsoft.com/office/drawing/2014/main" val="3298571036"/>
                  </a:ext>
                </a:extLst>
              </a:tr>
              <a:tr h="514350">
                <a:tc>
                  <a:txBody>
                    <a:bodyPr/>
                    <a:lstStyle/>
                    <a:p>
                      <a:r>
                        <a:rPr sz="1600" dirty="0"/>
                        <a:t>6. Validation</a:t>
                      </a:r>
                    </a:p>
                  </a:txBody>
                  <a:tcPr anchor="ctr"/>
                </a:tc>
                <a:tc>
                  <a:txBody>
                    <a:bodyPr/>
                    <a:lstStyle/>
                    <a:p>
                      <a:pPr>
                        <a:lnSpc>
                          <a:spcPct val="150000"/>
                        </a:lnSpc>
                      </a:pPr>
                      <a:r>
                        <a:rPr sz="1600" dirty="0"/>
                        <a:t>Validate models via:</a:t>
                      </a:r>
                    </a:p>
                    <a:p>
                      <a:pPr marL="285750" indent="-285750">
                        <a:lnSpc>
                          <a:spcPct val="150000"/>
                        </a:lnSpc>
                        <a:buFont typeface="Arial" panose="020B0604020202020204" pitchFamily="34" charset="0"/>
                        <a:buChar char="•"/>
                      </a:pPr>
                      <a:r>
                        <a:rPr lang="en-US" sz="1600" dirty="0"/>
                        <a:t>Cross-validation</a:t>
                      </a:r>
                    </a:p>
                    <a:p>
                      <a:pPr marL="285750" indent="-285750">
                        <a:lnSpc>
                          <a:spcPct val="150000"/>
                        </a:lnSpc>
                        <a:buFont typeface="Arial" panose="020B0604020202020204" pitchFamily="34" charset="0"/>
                        <a:buChar char="•"/>
                      </a:pPr>
                      <a:r>
                        <a:rPr lang="en-US" sz="1600" dirty="0"/>
                        <a:t>Public datasets (e.g., GitHub logs)</a:t>
                      </a:r>
                    </a:p>
                    <a:p>
                      <a:pPr marL="285750" indent="-285750">
                        <a:lnSpc>
                          <a:spcPct val="150000"/>
                        </a:lnSpc>
                        <a:buFont typeface="Arial" panose="020B0604020202020204" pitchFamily="34" charset="0"/>
                        <a:buChar char="•"/>
                      </a:pPr>
                      <a:r>
                        <a:rPr lang="en-US" sz="1600" dirty="0"/>
                        <a:t>Developer feedback on tool usability and interpretability.</a:t>
                      </a:r>
                    </a:p>
                  </a:txBody>
                  <a:tcPr/>
                </a:tc>
                <a:extLst>
                  <a:ext uri="{0D108BD9-81ED-4DB2-BD59-A6C34878D82A}">
                    <a16:rowId xmlns:a16="http://schemas.microsoft.com/office/drawing/2014/main" val="1681284992"/>
                  </a:ext>
                </a:extLst>
              </a:tr>
              <a:tr h="514350">
                <a:tc>
                  <a:txBody>
                    <a:bodyPr/>
                    <a:lstStyle/>
                    <a:p>
                      <a:r>
                        <a:rPr sz="1600" dirty="0"/>
                        <a:t>7. Documentation</a:t>
                      </a:r>
                    </a:p>
                  </a:txBody>
                  <a:tcPr anchor="ctr"/>
                </a:tc>
                <a:tc>
                  <a:txBody>
                    <a:bodyPr/>
                    <a:lstStyle/>
                    <a:p>
                      <a:pPr>
                        <a:lnSpc>
                          <a:spcPct val="150000"/>
                        </a:lnSpc>
                      </a:pPr>
                      <a:r>
                        <a:rPr sz="1600" dirty="0"/>
                        <a:t>Document models, preprocessing steps, results, and tool usage. Include diagrams, flowcharts, and forecast output examples.</a:t>
                      </a:r>
                    </a:p>
                  </a:txBody>
                  <a:tcPr/>
                </a:tc>
                <a:extLst>
                  <a:ext uri="{0D108BD9-81ED-4DB2-BD59-A6C34878D82A}">
                    <a16:rowId xmlns:a16="http://schemas.microsoft.com/office/drawing/2014/main" val="3647647620"/>
                  </a:ext>
                </a:extLst>
              </a:tr>
            </a:tbl>
          </a:graphicData>
        </a:graphic>
      </p:graphicFrame>
      <p:sp>
        <p:nvSpPr>
          <p:cNvPr id="6" name="TextBox 5">
            <a:extLst>
              <a:ext uri="{FF2B5EF4-FFF2-40B4-BE49-F238E27FC236}">
                <a16:creationId xmlns:a16="http://schemas.microsoft.com/office/drawing/2014/main" id="{6A0C9871-C1DE-3322-5E87-44A3146F4895}"/>
              </a:ext>
            </a:extLst>
          </p:cNvPr>
          <p:cNvSpPr txBox="1"/>
          <p:nvPr/>
        </p:nvSpPr>
        <p:spPr>
          <a:xfrm>
            <a:off x="4091295" y="5538724"/>
            <a:ext cx="4297700" cy="307777"/>
          </a:xfrm>
          <a:prstGeom prst="rect">
            <a:avLst/>
          </a:prstGeom>
          <a:noFill/>
        </p:spPr>
        <p:txBody>
          <a:bodyPr wrap="square" rtlCol="0">
            <a:spAutoFit/>
          </a:bodyPr>
          <a:lstStyle/>
          <a:p>
            <a:r>
              <a:rPr lang="en-US" sz="1400" i="1" dirty="0"/>
              <a:t>Figure 6 : Proposed Research Methods – Explanation </a:t>
            </a:r>
          </a:p>
        </p:txBody>
      </p:sp>
    </p:spTree>
    <p:extLst>
      <p:ext uri="{BB962C8B-B14F-4D97-AF65-F5344CB8AC3E}">
        <p14:creationId xmlns:p14="http://schemas.microsoft.com/office/powerpoint/2010/main" val="342633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0A41-8A8E-B539-50CE-CAC48501CE5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9A0CA09-4726-C7E8-90AA-77F51258A764}"/>
              </a:ext>
            </a:extLst>
          </p:cNvPr>
          <p:cNvSpPr txBox="1"/>
          <p:nvPr/>
        </p:nvSpPr>
        <p:spPr>
          <a:xfrm>
            <a:off x="282575" y="294780"/>
            <a:ext cx="9756775" cy="5847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32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Expected Outcomes</a:t>
            </a:r>
          </a:p>
        </p:txBody>
      </p:sp>
      <p:sp>
        <p:nvSpPr>
          <p:cNvPr id="12" name="文本框 11">
            <a:extLst>
              <a:ext uri="{FF2B5EF4-FFF2-40B4-BE49-F238E27FC236}">
                <a16:creationId xmlns:a16="http://schemas.microsoft.com/office/drawing/2014/main" id="{6CEEFE4F-EE5B-D37A-92B7-7E6CFFAF3A63}"/>
              </a:ext>
            </a:extLst>
          </p:cNvPr>
          <p:cNvSpPr txBox="1"/>
          <p:nvPr/>
        </p:nvSpPr>
        <p:spPr>
          <a:xfrm>
            <a:off x="395884" y="712470"/>
            <a:ext cx="10890961" cy="4775227"/>
          </a:xfrm>
          <a:prstGeom prst="rect">
            <a:avLst/>
          </a:prstGeom>
          <a:noFill/>
        </p:spPr>
        <p:txBody>
          <a:bodyPr wrap="square" rtlCol="0" anchor="t">
            <a:noAutofit/>
          </a:bodyPr>
          <a:lstStyle/>
          <a:p>
            <a:pPr marL="342900" indent="-342900" algn="just">
              <a:lnSpc>
                <a:spcPct val="250000"/>
              </a:lnSpc>
              <a:spcBef>
                <a:spcPts val="0"/>
              </a:spcBef>
              <a:spcAft>
                <a:spcPts val="0"/>
              </a:spcAft>
              <a:buFont typeface="Arial" panose="020B0604020202020204" pitchFamily="34" charset="0"/>
              <a:buChar char="•"/>
            </a:pP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A hybrid forecasting model tailored to predict engagement in Python applications.</a:t>
            </a:r>
          </a:p>
          <a:p>
            <a:pPr marL="342900" indent="-342900" algn="just">
              <a:lnSpc>
                <a:spcPct val="250000"/>
              </a:lnSpc>
              <a:spcBef>
                <a:spcPts val="0"/>
              </a:spcBef>
              <a:spcAft>
                <a:spcPts val="0"/>
              </a:spcAft>
              <a:buFont typeface="Arial" panose="020B0604020202020204" pitchFamily="34" charset="0"/>
              <a:buChar char="•"/>
            </a:pP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Insights into how ARIMA, LSTM, and hybrid models perform on different usage patterns.</a:t>
            </a:r>
          </a:p>
          <a:p>
            <a:pPr marL="342900" indent="-342900" algn="just">
              <a:lnSpc>
                <a:spcPct val="250000"/>
              </a:lnSpc>
              <a:spcBef>
                <a:spcPts val="0"/>
              </a:spcBef>
              <a:spcAft>
                <a:spcPts val="0"/>
              </a:spcAft>
              <a:buFont typeface="Arial" panose="020B0604020202020204" pitchFamily="34" charset="0"/>
              <a:buChar char="•"/>
            </a:pP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A Python-native forecasting tool with batch processing and visual reporting.</a:t>
            </a:r>
          </a:p>
          <a:p>
            <a:pPr marL="342900" indent="-342900" algn="just">
              <a:lnSpc>
                <a:spcPct val="250000"/>
              </a:lnSpc>
              <a:spcBef>
                <a:spcPts val="0"/>
              </a:spcBef>
              <a:spcAft>
                <a:spcPts val="0"/>
              </a:spcAft>
              <a:buFont typeface="Arial" panose="020B0604020202020204" pitchFamily="34" charset="0"/>
              <a:buChar char="•"/>
            </a:pP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Improved decision-making support for Python developers based on engagement trends.</a:t>
            </a:r>
          </a:p>
          <a:p>
            <a:pPr marL="342900" indent="-342900" algn="just">
              <a:lnSpc>
                <a:spcPct val="250000"/>
              </a:lnSpc>
              <a:spcBef>
                <a:spcPts val="0"/>
              </a:spcBef>
              <a:spcAft>
                <a:spcPts val="0"/>
              </a:spcAft>
              <a:buFont typeface="Arial" panose="020B0604020202020204" pitchFamily="34" charset="0"/>
              <a:buChar char="•"/>
            </a:pP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A validated system that works with real and simulated usage logs.</a:t>
            </a:r>
          </a:p>
          <a:p>
            <a:pPr marL="342900" indent="-342900" algn="just">
              <a:lnSpc>
                <a:spcPct val="250000"/>
              </a:lnSpc>
              <a:spcBef>
                <a:spcPts val="0"/>
              </a:spcBef>
              <a:spcAft>
                <a:spcPts val="0"/>
              </a:spcAft>
              <a:buFont typeface="Arial" panose="020B0604020202020204" pitchFamily="34" charset="0"/>
              <a:buChar char="•"/>
            </a:pP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Contribution to software engineering research by focusing on developer-oriented tools.</a:t>
            </a:r>
          </a:p>
          <a:p>
            <a:pPr marL="342900" indent="-342900" algn="just">
              <a:lnSpc>
                <a:spcPct val="250000"/>
              </a:lnSpc>
              <a:spcBef>
                <a:spcPts val="0"/>
              </a:spcBef>
              <a:spcAft>
                <a:spcPts val="0"/>
              </a:spcAft>
              <a:buFont typeface="Arial" panose="020B0604020202020204" pitchFamily="34" charset="0"/>
              <a:buChar char="•"/>
            </a:pPr>
            <a:r>
              <a:rPr lang="en-US" altLang="zh-CN" sz="2100" dirty="0">
                <a:solidFill>
                  <a:schemeClr val="tx1">
                    <a:lumMod val="75000"/>
                    <a:lumOff val="25000"/>
                  </a:schemeClr>
                </a:solidFill>
                <a:latin typeface="Roboto Light" panose="02000000000000000000" charset="0"/>
                <a:cs typeface="Roboto Light" panose="02000000000000000000" charset="0"/>
                <a:sym typeface="+mn-ea"/>
              </a:rPr>
              <a:t>A reusable forecasting framework for future open-source or educational tools.</a:t>
            </a:r>
            <a:endParaRPr lang="zh-CN" altLang="en-US" sz="21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D15F27CE-A2EE-4D51-7F38-6BA766936D2C}"/>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9C23B126-B337-C566-4175-5F8CF734535A}"/>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0F4E0CB8-B838-2A1F-9D26-6F857233198C}"/>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13</a:t>
            </a:r>
          </a:p>
        </p:txBody>
      </p:sp>
      <p:sp>
        <p:nvSpPr>
          <p:cNvPr id="10" name="object 3">
            <a:extLst>
              <a:ext uri="{FF2B5EF4-FFF2-40B4-BE49-F238E27FC236}">
                <a16:creationId xmlns:a16="http://schemas.microsoft.com/office/drawing/2014/main" id="{FA0B719F-2B11-8732-BD18-A9B22879FD7A}"/>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Tree>
    <p:extLst>
      <p:ext uri="{BB962C8B-B14F-4D97-AF65-F5344CB8AC3E}">
        <p14:creationId xmlns:p14="http://schemas.microsoft.com/office/powerpoint/2010/main" val="734333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93377-D93B-504C-A50E-6BE4CFAB636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18CC355-5475-9570-4513-18E1376FAC56}"/>
              </a:ext>
            </a:extLst>
          </p:cNvPr>
          <p:cNvSpPr txBox="1"/>
          <p:nvPr/>
        </p:nvSpPr>
        <p:spPr>
          <a:xfrm>
            <a:off x="282575" y="294780"/>
            <a:ext cx="9756775" cy="5847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32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System Overview </a:t>
            </a:r>
          </a:p>
        </p:txBody>
      </p:sp>
      <p:sp>
        <p:nvSpPr>
          <p:cNvPr id="12" name="文本框 11">
            <a:extLst>
              <a:ext uri="{FF2B5EF4-FFF2-40B4-BE49-F238E27FC236}">
                <a16:creationId xmlns:a16="http://schemas.microsoft.com/office/drawing/2014/main" id="{0E60B1A4-B8C7-4C9D-B79F-BDE622BE4B0B}"/>
              </a:ext>
            </a:extLst>
          </p:cNvPr>
          <p:cNvSpPr txBox="1"/>
          <p:nvPr/>
        </p:nvSpPr>
        <p:spPr>
          <a:xfrm>
            <a:off x="890491" y="2099396"/>
            <a:ext cx="10411016" cy="2227460"/>
          </a:xfrm>
          <a:prstGeom prst="rect">
            <a:avLst/>
          </a:prstGeom>
          <a:noFill/>
        </p:spPr>
        <p:txBody>
          <a:bodyPr wrap="square" rtlCol="0" anchor="t">
            <a:noAutofit/>
          </a:bodyPr>
          <a:lstStyle/>
          <a:p>
            <a:pPr marL="342900" indent="-342900" algn="just">
              <a:lnSpc>
                <a:spcPct val="150000"/>
              </a:lnSpc>
              <a:spcBef>
                <a:spcPts val="0"/>
              </a:spcBef>
              <a:spcAft>
                <a:spcPts val="0"/>
              </a:spcAft>
              <a:buFont typeface="Arial" panose="020B0604020202020204" pitchFamily="34" charset="0"/>
              <a:buChar char="•"/>
            </a:pPr>
            <a:r>
              <a:rPr lang="en-US" sz="2200" dirty="0"/>
              <a:t>“The proposed system is a Python-based engagement forecasting framework that processes usage logs from software applications, applies time series models such as ARIMA, LSTM, and hybrid combinations, and outputs accurate predictions of user interaction trends. It is designed to help developers make proactive decisions by offering automated, visualized forecasts through a lightweight web interface.”</a:t>
            </a:r>
            <a:endParaRPr lang="zh-CN" altLang="en-US" sz="2200" dirty="0">
              <a:sym typeface="+mn-ea"/>
            </a:endParaRPr>
          </a:p>
        </p:txBody>
      </p:sp>
      <p:sp>
        <p:nvSpPr>
          <p:cNvPr id="5" name="object 2">
            <a:extLst>
              <a:ext uri="{FF2B5EF4-FFF2-40B4-BE49-F238E27FC236}">
                <a16:creationId xmlns:a16="http://schemas.microsoft.com/office/drawing/2014/main" id="{669D4212-5E8A-019B-4A59-BE44B917C54B}"/>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3A297576-B7F6-4140-BBE4-C98E0D53BEB1}"/>
              </a:ext>
            </a:extLst>
          </p:cNvPr>
          <p:cNvPicPr/>
          <p:nvPr/>
        </p:nvPicPr>
        <p:blipFill>
          <a:blip r:embed="rId3"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AB9C14EE-C455-5DA1-598F-B1506C9DD5E7}"/>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13</a:t>
            </a:r>
          </a:p>
        </p:txBody>
      </p:sp>
      <p:sp>
        <p:nvSpPr>
          <p:cNvPr id="10" name="object 3">
            <a:extLst>
              <a:ext uri="{FF2B5EF4-FFF2-40B4-BE49-F238E27FC236}">
                <a16:creationId xmlns:a16="http://schemas.microsoft.com/office/drawing/2014/main" id="{D74A82DC-6FE8-61D2-1FA8-3EE2D99A2B01}"/>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
        <p:nvSpPr>
          <p:cNvPr id="3" name="文本框 8">
            <a:extLst>
              <a:ext uri="{FF2B5EF4-FFF2-40B4-BE49-F238E27FC236}">
                <a16:creationId xmlns:a16="http://schemas.microsoft.com/office/drawing/2014/main" id="{1A8A1C00-8FD8-9B99-F5CE-FFA4B86F069B}"/>
              </a:ext>
            </a:extLst>
          </p:cNvPr>
          <p:cNvSpPr txBox="1"/>
          <p:nvPr/>
        </p:nvSpPr>
        <p:spPr>
          <a:xfrm>
            <a:off x="401378" y="1366470"/>
            <a:ext cx="11389243" cy="52322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buClrTx/>
              <a:buSzTx/>
            </a:pPr>
            <a:r>
              <a:rPr lang="en-US" altLang="zh-CN" sz="2800" b="1" dirty="0">
                <a:solidFill>
                  <a:srgbClr val="203864"/>
                </a:solidFill>
                <a:latin typeface="Amasis MT Pro" panose="020F0502020204030204" pitchFamily="18" charset="0"/>
                <a:ea typeface="Roboto Light" panose="02000000000000000000" charset="0"/>
                <a:cs typeface="Roboto Medium" panose="02000000000000000000" charset="0"/>
                <a:sym typeface="+mn-ea"/>
              </a:rPr>
              <a:t>System Overview Statement</a:t>
            </a:r>
            <a:endParaRPr lang="en-US" altLang="zh-CN" sz="2800" b="1" dirty="0">
              <a:solidFill>
                <a:srgbClr val="203864"/>
              </a:solidFill>
              <a:uFillTx/>
              <a:latin typeface="Amasis MT Pro" panose="020F0502020204030204" pitchFamily="18" charset="0"/>
              <a:ea typeface="Roboto Light" panose="02000000000000000000" charset="0"/>
              <a:cs typeface="Roboto Medium" panose="02000000000000000000" charset="0"/>
              <a:sym typeface="+mn-ea"/>
            </a:endParaRPr>
          </a:p>
        </p:txBody>
      </p:sp>
    </p:spTree>
    <p:extLst>
      <p:ext uri="{BB962C8B-B14F-4D97-AF65-F5344CB8AC3E}">
        <p14:creationId xmlns:p14="http://schemas.microsoft.com/office/powerpoint/2010/main" val="3294417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A2DE0-2D18-F501-7731-897C11C81C4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60C70A5-3C6A-799C-7053-C3399DB9D740}"/>
              </a:ext>
            </a:extLst>
          </p:cNvPr>
          <p:cNvSpPr txBox="1"/>
          <p:nvPr/>
        </p:nvSpPr>
        <p:spPr>
          <a:xfrm>
            <a:off x="202387" y="192983"/>
            <a:ext cx="9756775" cy="584775"/>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en-US" altLang="zh-CN" sz="3200" cap="all" dirty="0">
                <a:solidFill>
                  <a:srgbClr val="203864"/>
                </a:solidFill>
                <a:uFillTx/>
                <a:latin typeface="Times New Roman" panose="02020603050405020304" charset="0"/>
                <a:ea typeface="Roboto Light" panose="02000000000000000000" charset="0"/>
                <a:cs typeface="Times New Roman" panose="02020603050405020304" charset="0"/>
                <a:sym typeface="+mn-ea"/>
              </a:rPr>
              <a:t>References</a:t>
            </a:r>
          </a:p>
        </p:txBody>
      </p:sp>
      <p:sp>
        <p:nvSpPr>
          <p:cNvPr id="12" name="文本框 11">
            <a:extLst>
              <a:ext uri="{FF2B5EF4-FFF2-40B4-BE49-F238E27FC236}">
                <a16:creationId xmlns:a16="http://schemas.microsoft.com/office/drawing/2014/main" id="{14F97001-C7C9-1C26-C227-AF13C340EE81}"/>
              </a:ext>
            </a:extLst>
          </p:cNvPr>
          <p:cNvSpPr txBox="1"/>
          <p:nvPr/>
        </p:nvSpPr>
        <p:spPr>
          <a:xfrm>
            <a:off x="673846" y="752273"/>
            <a:ext cx="10908554" cy="5764755"/>
          </a:xfrm>
          <a:prstGeom prst="rect">
            <a:avLst/>
          </a:prstGeom>
          <a:noFill/>
        </p:spPr>
        <p:txBody>
          <a:bodyPr wrap="square" rtlCol="0" anchor="t">
            <a:noAutofit/>
          </a:bodyPr>
          <a:lstStyle/>
          <a:p>
            <a:pPr algn="just"/>
            <a:r>
              <a:rPr lang="en-US" sz="1300" dirty="0">
                <a:effectLst/>
                <a:latin typeface="Times New Roman" panose="02020603050405020304" pitchFamily="18" charset="0"/>
                <a:ea typeface="Times New Roman" panose="02020603050405020304" pitchFamily="18" charset="0"/>
              </a:rPr>
              <a:t>[1]	Y. Liu, X. Shi, L. Pierce, and X. Ren, "Characterizing and forecasting user engagement with in-app action graph: A case study of snapchat," in 	</a:t>
            </a:r>
            <a:r>
              <a:rPr lang="en-US" sz="1300" i="1" dirty="0">
                <a:effectLst/>
                <a:latin typeface="Times New Roman" panose="02020603050405020304" pitchFamily="18" charset="0"/>
                <a:ea typeface="Times New Roman" panose="02020603050405020304" pitchFamily="18" charset="0"/>
              </a:rPr>
              <a:t>Proceedings of the 25th ACM SIGKDD international conference on knowledge discovery &amp; data mining</a:t>
            </a:r>
            <a:r>
              <a:rPr lang="en-US" sz="1300" dirty="0">
                <a:effectLst/>
                <a:latin typeface="Times New Roman" panose="02020603050405020304" pitchFamily="18" charset="0"/>
                <a:ea typeface="Times New Roman" panose="02020603050405020304" pitchFamily="18" charset="0"/>
              </a:rPr>
              <a:t>, 2019, pp. 2023-2031.</a:t>
            </a:r>
          </a:p>
          <a:p>
            <a:pPr algn="just"/>
            <a:r>
              <a:rPr lang="en-US" sz="1300" dirty="0">
                <a:effectLst/>
                <a:latin typeface="Times New Roman" panose="02020603050405020304" pitchFamily="18" charset="0"/>
                <a:ea typeface="Times New Roman" panose="02020603050405020304" pitchFamily="18" charset="0"/>
              </a:rPr>
              <a:t> </a:t>
            </a:r>
          </a:p>
          <a:p>
            <a:pPr algn="just"/>
            <a:r>
              <a:rPr lang="en-US" sz="1300" dirty="0">
                <a:effectLst/>
                <a:latin typeface="Times New Roman" panose="02020603050405020304" pitchFamily="18" charset="0"/>
                <a:ea typeface="Times New Roman" panose="02020603050405020304" pitchFamily="18" charset="0"/>
              </a:rPr>
              <a:t>[2]	K. Y. Hern, L. K. Yin, and C. W. Yoke, "Forecasting facebook user engagement using hybrid prophet and long short-term memory model," 	in </a:t>
            </a:r>
            <a:r>
              <a:rPr lang="en-US" sz="1300" i="1" dirty="0">
                <a:effectLst/>
                <a:latin typeface="Times New Roman" panose="02020603050405020304" pitchFamily="18" charset="0"/>
                <a:ea typeface="Times New Roman" panose="02020603050405020304" pitchFamily="18" charset="0"/>
              </a:rPr>
              <a:t>International Conference on Digital Transformation and Applications (ICDXA)</a:t>
            </a:r>
            <a:r>
              <a:rPr lang="en-US" sz="1300" dirty="0">
                <a:effectLst/>
                <a:latin typeface="Times New Roman" panose="02020603050405020304" pitchFamily="18" charset="0"/>
                <a:ea typeface="Times New Roman" panose="02020603050405020304" pitchFamily="18" charset="0"/>
              </a:rPr>
              <a:t>, 2021, vol. 25, p. 26. </a:t>
            </a:r>
          </a:p>
          <a:p>
            <a:pPr algn="just"/>
            <a:endParaRPr lang="en-US" sz="1300" dirty="0">
              <a:latin typeface="Times New Roman" panose="02020603050405020304" pitchFamily="18" charset="0"/>
            </a:endParaRPr>
          </a:p>
          <a:p>
            <a:pPr algn="just"/>
            <a:r>
              <a:rPr lang="en-US" sz="1300" dirty="0">
                <a:latin typeface="Times New Roman" panose="02020603050405020304" pitchFamily="18" charset="0"/>
              </a:rPr>
              <a:t>[3]	X. Liu and W. Wang, "Deep Time Series Forecasting Models: A Comprehensive Survey," Mathematics, 2024.</a:t>
            </a:r>
          </a:p>
          <a:p>
            <a:pPr algn="just"/>
            <a:endParaRPr lang="en-US" sz="1300" dirty="0">
              <a:latin typeface="Times New Roman" panose="02020603050405020304" pitchFamily="18" charset="0"/>
            </a:endParaRPr>
          </a:p>
          <a:p>
            <a:pPr algn="just"/>
            <a:r>
              <a:rPr lang="en-US" sz="1300" dirty="0">
                <a:latin typeface="Times New Roman" panose="02020603050405020304" pitchFamily="18" charset="0"/>
              </a:rPr>
              <a:t>[4]	M. Jin et al., "A Survey on Graph Neural Networks for Time Series: Forecasting, Classification, Imputation, and Anomaly Detection," IEEE 	Transactions on Pattern Analysis and Machine Intelligence, vol. 46, no. 12, pp. 10466-10485, 2024, </a:t>
            </a:r>
            <a:r>
              <a:rPr lang="en-US" sz="1300" dirty="0" err="1">
                <a:latin typeface="Times New Roman" panose="02020603050405020304" pitchFamily="18" charset="0"/>
              </a:rPr>
              <a:t>doi</a:t>
            </a:r>
            <a:r>
              <a:rPr lang="en-US" sz="1300" dirty="0">
                <a:latin typeface="Times New Roman" panose="02020603050405020304" pitchFamily="18" charset="0"/>
              </a:rPr>
              <a:t>: 10.1109/TPAMI.2024.3443141.</a:t>
            </a:r>
          </a:p>
          <a:p>
            <a:pPr algn="just"/>
            <a:endParaRPr lang="en-US" sz="1300" dirty="0">
              <a:latin typeface="Times New Roman" panose="02020603050405020304" pitchFamily="18" charset="0"/>
            </a:endParaRPr>
          </a:p>
          <a:p>
            <a:pPr algn="just"/>
            <a:r>
              <a:rPr lang="en-US" sz="1300" dirty="0">
                <a:latin typeface="Times New Roman" panose="02020603050405020304" pitchFamily="18" charset="0"/>
              </a:rPr>
              <a:t>[5]	R. Stromer, O. Triebe, C. Zanocco, and R. Rajagopal, "Designing forecasting software for forecast users: Empowering non-experts to create and 	understand their own forecasts," ArXiv, vol. abs/2404.14575, 2024.</a:t>
            </a:r>
          </a:p>
          <a:p>
            <a:pPr algn="just"/>
            <a:endParaRPr lang="en-US" sz="1300" dirty="0">
              <a:latin typeface="Times New Roman" panose="02020603050405020304" pitchFamily="18" charset="0"/>
            </a:endParaRPr>
          </a:p>
          <a:p>
            <a:pPr algn="just"/>
            <a:r>
              <a:rPr lang="en-US" sz="1300" dirty="0">
                <a:latin typeface="Times New Roman" panose="02020603050405020304" pitchFamily="18" charset="0"/>
              </a:rPr>
              <a:t>[6]	X. Tang, Y. Liu, N. Shah, X. Shi, P. Mitra, and S. Wang, "Knowing your fate: Friendship, action and temporal explanations for user 	engagement prediction on social apps," in Proceedings of the 26th ACM SIGKDD international conference on knowledge discovery &amp; data mining, 	2020, pp. 2269-2279. </a:t>
            </a:r>
          </a:p>
          <a:p>
            <a:pPr algn="just"/>
            <a:endParaRPr lang="en-US" sz="1300" dirty="0">
              <a:latin typeface="Times New Roman" panose="02020603050405020304" pitchFamily="18" charset="0"/>
            </a:endParaRPr>
          </a:p>
          <a:p>
            <a:pPr algn="just"/>
            <a:r>
              <a:rPr lang="en-US" sz="1300" dirty="0">
                <a:effectLst/>
                <a:latin typeface="Times New Roman" panose="02020603050405020304" pitchFamily="18" charset="0"/>
                <a:ea typeface="Times New Roman" panose="02020603050405020304" pitchFamily="18" charset="0"/>
              </a:rPr>
              <a:t>[7</a:t>
            </a:r>
            <a:r>
              <a:rPr lang="en-US" sz="1300" dirty="0">
                <a:latin typeface="Times New Roman" panose="02020603050405020304" pitchFamily="18" charset="0"/>
              </a:rPr>
              <a:t>]	F. Li et al., "DIGMN: Dynamic Intent Guided Meta Network for Differentiated User Engagement Forecasting in Online Professional Social 	Platforms," presented at the Proceedings of the Sixteenth ACM International Conference on Web Search and Data Mining, 	Singapore, Singapore, 	2023. [Online]. Available: </a:t>
            </a:r>
            <a:r>
              <a:rPr lang="en-US" sz="1300" dirty="0">
                <a:latin typeface="Times New Roman" panose="02020603050405020304" pitchFamily="18" charset="0"/>
                <a:hlinkClick r:id="rId3">
                  <a:extLst>
                    <a:ext uri="{A12FA001-AC4F-418D-AE19-62706E023703}">
                      <ahyp:hlinkClr xmlns:ahyp="http://schemas.microsoft.com/office/drawing/2018/hyperlinkcolor" val="tx"/>
                    </a:ext>
                  </a:extLst>
                </a:hlinkClick>
              </a:rPr>
              <a:t>https://doi.org/10.1145/3539597.3570420</a:t>
            </a:r>
            <a:r>
              <a:rPr lang="en-US" sz="1300" dirty="0">
                <a:latin typeface="Times New Roman" panose="02020603050405020304" pitchFamily="18" charset="0"/>
              </a:rPr>
              <a:t>.</a:t>
            </a:r>
          </a:p>
          <a:p>
            <a:pPr algn="just">
              <a:spcBef>
                <a:spcPts val="0"/>
              </a:spcBef>
              <a:spcAft>
                <a:spcPts val="0"/>
              </a:spcAft>
            </a:pPr>
            <a:endParaRPr lang="en-US" altLang="zh-CN" sz="1300" dirty="0">
              <a:latin typeface="Times New Roman" panose="02020603050405020304" pitchFamily="18" charset="0"/>
              <a:sym typeface="+mn-ea"/>
            </a:endParaRPr>
          </a:p>
          <a:p>
            <a:pPr algn="just"/>
            <a:r>
              <a:rPr lang="en-US" sz="1300" dirty="0">
                <a:latin typeface="Times New Roman" panose="02020603050405020304" pitchFamily="18" charset="0"/>
              </a:rPr>
              <a:t>[8]	H. Gnanasekaran, D. P, and U. Köse, "Time-series Forecasting of Web Traffic Using Prophet Machine Learning Model," vol. 1, pp. 161-177, 11/29 	2023.</a:t>
            </a:r>
          </a:p>
          <a:p>
            <a:pPr algn="just"/>
            <a:endParaRPr lang="en-US" sz="1300" dirty="0">
              <a:latin typeface="Times New Roman" panose="02020603050405020304" pitchFamily="18" charset="0"/>
            </a:endParaRPr>
          </a:p>
          <a:p>
            <a:pPr algn="just"/>
            <a:r>
              <a:rPr lang="en-US" sz="1300" dirty="0">
                <a:latin typeface="Times New Roman" panose="02020603050405020304" pitchFamily="18" charset="0"/>
              </a:rPr>
              <a:t>[9]	D. Seca, "TimeGym: Debugging for Time Series Modeling in Python," arXiv preprint arXiv:2105.01404, 2021.</a:t>
            </a:r>
          </a:p>
          <a:p>
            <a:pPr algn="just"/>
            <a:endParaRPr lang="en-US" sz="1300" dirty="0">
              <a:latin typeface="Times New Roman" panose="02020603050405020304" pitchFamily="18" charset="0"/>
            </a:endParaRPr>
          </a:p>
          <a:p>
            <a:pPr algn="just"/>
            <a:r>
              <a:rPr lang="en-US" sz="1300" dirty="0">
                <a:latin typeface="Times New Roman" panose="02020603050405020304" pitchFamily="18" charset="0"/>
              </a:rPr>
              <a:t>[10]	B. Bollig, M. Függer, and T. Nowak, A Framework for Streaming Event-Log Prediction in Business Processes. 2024.</a:t>
            </a:r>
          </a:p>
          <a:p>
            <a:pPr algn="just"/>
            <a:endParaRPr lang="en-US" sz="1300" dirty="0">
              <a:latin typeface="Times New Roman" panose="02020603050405020304" pitchFamily="18" charset="0"/>
            </a:endParaRPr>
          </a:p>
          <a:p>
            <a:pPr algn="just">
              <a:spcBef>
                <a:spcPts val="0"/>
              </a:spcBef>
              <a:spcAft>
                <a:spcPts val="0"/>
              </a:spcAft>
            </a:pPr>
            <a:endParaRPr lang="zh-CN" altLang="en-US" sz="1300" dirty="0">
              <a:solidFill>
                <a:schemeClr val="tx1">
                  <a:lumMod val="75000"/>
                  <a:lumOff val="25000"/>
                </a:schemeClr>
              </a:solidFill>
              <a:latin typeface="Roboto Light" panose="02000000000000000000" charset="0"/>
              <a:cs typeface="Roboto Light" panose="02000000000000000000" charset="0"/>
              <a:sym typeface="+mn-ea"/>
            </a:endParaRPr>
          </a:p>
        </p:txBody>
      </p:sp>
      <p:sp>
        <p:nvSpPr>
          <p:cNvPr id="5" name="object 2">
            <a:extLst>
              <a:ext uri="{FF2B5EF4-FFF2-40B4-BE49-F238E27FC236}">
                <a16:creationId xmlns:a16="http://schemas.microsoft.com/office/drawing/2014/main" id="{45D03704-6D3B-440A-1435-0FC15A2096C6}"/>
              </a:ext>
            </a:extLst>
          </p:cNvPr>
          <p:cNvSpPr txBox="1"/>
          <p:nvPr/>
        </p:nvSpPr>
        <p:spPr>
          <a:xfrm>
            <a:off x="8892540" y="6556832"/>
            <a:ext cx="3141345" cy="226695"/>
          </a:xfrm>
          <a:prstGeom prst="rect">
            <a:avLst/>
          </a:prstGeom>
        </p:spPr>
        <p:txBody>
          <a:bodyPr vert="horz" wrap="square" lIns="0" tIns="11430" rIns="0" bIns="0" rtlCol="0">
            <a:spAutoFit/>
          </a:bodyPr>
          <a:lstStyle/>
          <a:p>
            <a:pPr marL="12700">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SE 8101 - RESEARCH PROJECT IN SE</a:t>
            </a:r>
          </a:p>
        </p:txBody>
      </p:sp>
      <p:pic>
        <p:nvPicPr>
          <p:cNvPr id="16" name="object 6">
            <a:extLst>
              <a:ext uri="{FF2B5EF4-FFF2-40B4-BE49-F238E27FC236}">
                <a16:creationId xmlns:a16="http://schemas.microsoft.com/office/drawing/2014/main" id="{190E7DA1-D1BE-BBED-9FEC-9A6981BB46BE}"/>
              </a:ext>
            </a:extLst>
          </p:cNvPr>
          <p:cNvPicPr/>
          <p:nvPr/>
        </p:nvPicPr>
        <p:blipFill>
          <a:blip r:embed="rId4" cstate="print"/>
          <a:stretch>
            <a:fillRect/>
          </a:stretch>
        </p:blipFill>
        <p:spPr>
          <a:xfrm>
            <a:off x="9952355" y="635"/>
            <a:ext cx="2239645" cy="711835"/>
          </a:xfrm>
          <a:prstGeom prst="rect">
            <a:avLst/>
          </a:prstGeom>
        </p:spPr>
      </p:pic>
      <p:sp>
        <p:nvSpPr>
          <p:cNvPr id="23" name="object 2">
            <a:extLst>
              <a:ext uri="{FF2B5EF4-FFF2-40B4-BE49-F238E27FC236}">
                <a16:creationId xmlns:a16="http://schemas.microsoft.com/office/drawing/2014/main" id="{9605882D-EF2E-4588-D864-1FCBED0CFD86}"/>
              </a:ext>
            </a:extLst>
          </p:cNvPr>
          <p:cNvSpPr txBox="1"/>
          <p:nvPr/>
        </p:nvSpPr>
        <p:spPr>
          <a:xfrm>
            <a:off x="5841365" y="6557010"/>
            <a:ext cx="797560" cy="226695"/>
          </a:xfrm>
          <a:prstGeom prst="rect">
            <a:avLst/>
          </a:prstGeom>
        </p:spPr>
        <p:txBody>
          <a:bodyPr vert="horz" wrap="square" lIns="0" tIns="11430" rIns="0" bIns="0" rtlCol="0">
            <a:spAutoFit/>
          </a:bodyPr>
          <a:lstStyle/>
          <a:p>
            <a:pPr marL="12700" algn="ctr">
              <a:lnSpc>
                <a:spcPct val="100000"/>
              </a:lnSpc>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13</a:t>
            </a:r>
          </a:p>
        </p:txBody>
      </p:sp>
      <p:sp>
        <p:nvSpPr>
          <p:cNvPr id="10" name="object 3">
            <a:extLst>
              <a:ext uri="{FF2B5EF4-FFF2-40B4-BE49-F238E27FC236}">
                <a16:creationId xmlns:a16="http://schemas.microsoft.com/office/drawing/2014/main" id="{1922D1E3-7240-74DE-02E9-F203C12E5808}"/>
              </a:ext>
            </a:extLst>
          </p:cNvPr>
          <p:cNvSpPr txBox="1"/>
          <p:nvPr/>
        </p:nvSpPr>
        <p:spPr>
          <a:xfrm>
            <a:off x="202387" y="6495389"/>
            <a:ext cx="5502910" cy="288541"/>
          </a:xfrm>
          <a:prstGeom prst="rect">
            <a:avLst/>
          </a:prstGeom>
        </p:spPr>
        <p:txBody>
          <a:bodyPr vert="horz" wrap="square" lIns="0" tIns="11430" rIns="0" bIns="0" rtlCol="0">
            <a:spAutoFit/>
          </a:bodyPr>
          <a:lstStyle/>
          <a:p>
            <a:pPr marL="12700">
              <a:spcBef>
                <a:spcPts val="90"/>
              </a:spcBef>
            </a:pP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DEPARTMENT</a:t>
            </a:r>
            <a:r>
              <a:rPr lang="en-US" altLang="en-US" sz="1800" dirty="0">
                <a:solidFill>
                  <a:srgbClr val="203864"/>
                </a:solidFill>
                <a:latin typeface="Times New Roman" panose="02020603050405020304" charset="0"/>
                <a:ea typeface="Roboto Light" panose="02000000000000000000" charset="0"/>
                <a:cs typeface="Times New Roman" panose="02020603050405020304" charset="0"/>
              </a:rPr>
              <a:t> </a:t>
            </a:r>
            <a:r>
              <a:rPr lang="en-US" altLang="en-US" sz="1400" dirty="0">
                <a:solidFill>
                  <a:srgbClr val="203864"/>
                </a:solidFill>
                <a:latin typeface="Times New Roman" panose="02020603050405020304" charset="0"/>
                <a:ea typeface="Roboto Light" panose="02000000000000000000" charset="0"/>
                <a:cs typeface="Times New Roman" panose="02020603050405020304" charset="0"/>
              </a:rPr>
              <a:t>OF SOFTWARE ENGINEERING</a:t>
            </a:r>
          </a:p>
        </p:txBody>
      </p:sp>
    </p:spTree>
    <p:extLst>
      <p:ext uri="{BB962C8B-B14F-4D97-AF65-F5344CB8AC3E}">
        <p14:creationId xmlns:p14="http://schemas.microsoft.com/office/powerpoint/2010/main" val="2316964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835151" y="2501900"/>
            <a:ext cx="8231505" cy="1004570"/>
          </a:xfrm>
          <a:prstGeom prst="rect">
            <a:avLst/>
          </a:prstGeom>
          <a:noFill/>
        </p:spPr>
        <p:txBody>
          <a:bodyPr wrap="square" rtlCol="0" anchor="t">
            <a:spAutoFit/>
          </a:bodyPr>
          <a:lstStyle/>
          <a:p>
            <a:pPr algn="ctr">
              <a:lnSpc>
                <a:spcPct val="90000"/>
              </a:lnSpc>
              <a:spcBef>
                <a:spcPts val="0"/>
              </a:spcBef>
              <a:spcAft>
                <a:spcPts val="0"/>
              </a:spcAft>
            </a:pPr>
            <a:r>
              <a:rPr lang="en-US" altLang="zh-CN" sz="6600">
                <a:solidFill>
                  <a:srgbClr val="203864"/>
                </a:solidFill>
                <a:latin typeface="Roboto Black" panose="02000000000000000000" charset="0"/>
                <a:cs typeface="Roboto Black" panose="02000000000000000000" charset="0"/>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M3ZDNiNjQ5MjMwNGE4NGUzZGUzN2M4NzZkODkzZjgifQ=="/>
  <p:tag name="KSO_WPP_MARK_KEY" val="e6e9437c-a177-4588-88b5-a71076b8cdc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Roboto Light"/>
        <a:ea typeface=""/>
        <a:cs typeface=""/>
        <a:font script="Jpan" typeface="ＭＳ Ｐゴシック"/>
        <a:font script="Hang" typeface="맑은 고딕"/>
        <a:font script="Hans" typeface="Roboto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Light"/>
        <a:ea typeface=""/>
        <a:cs typeface=""/>
        <a:font script="Jpan" typeface="ＭＳ Ｐゴシック"/>
        <a:font script="Hang" typeface="맑은 고딕"/>
        <a:font script="Hans" typeface="Roboto Light"/>
        <a:font script="Hant" typeface="新細明體"/>
        <a:font script="Arab" typeface="Roboto Light"/>
        <a:font script="Hebr" typeface="Roboto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Roboto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Light"/>
        <a:ea typeface=""/>
        <a:cs typeface=""/>
        <a:font script="Jpan" typeface="ＭＳ Ｐゴシック"/>
        <a:font script="Hang" typeface="맑은 고딕"/>
        <a:font script="Hans" typeface="Roboto Light"/>
        <a:font script="Hant" typeface="新細明體"/>
        <a:font script="Arab" typeface="Roboto Light"/>
        <a:font script="Hebr" typeface="Roboto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Roboto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Light"/>
        <a:ea typeface=""/>
        <a:cs typeface=""/>
        <a:font script="Jpan" typeface="ＭＳ Ｐゴシック"/>
        <a:font script="Hang" typeface="맑은 고딕"/>
        <a:font script="Hans" typeface="Roboto Light"/>
        <a:font script="Hant" typeface="新細明體"/>
        <a:font script="Arab" typeface="Roboto Light"/>
        <a:font script="Hebr" typeface="Roboto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Roboto 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926</TotalTime>
  <Words>2361</Words>
  <Application>Microsoft Office PowerPoint</Application>
  <PresentationFormat>Widescreen</PresentationFormat>
  <Paragraphs>290</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Times New Roman</vt:lpstr>
      <vt:lpstr>Arial</vt:lpstr>
      <vt:lpstr>Roboto Black</vt:lpstr>
      <vt:lpstr>Calibri</vt:lpstr>
      <vt:lpstr>Roboto Light</vt:lpstr>
      <vt:lpstr>Amasis MT Pro</vt:lpstr>
      <vt:lpstr>Roboto Medium</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a59394</cp:lastModifiedBy>
  <cp:revision>123</cp:revision>
  <dcterms:created xsi:type="dcterms:W3CDTF">2023-04-03T04:16:00Z</dcterms:created>
  <dcterms:modified xsi:type="dcterms:W3CDTF">2025-06-04T13:01:51Z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64868AED8E024840AF6A42F2086C239C_13</vt:lpwstr>
  </property>
  <property fmtid="{D5CDD505-2E9C-101B-9397-08002B2CF9AE}" pid="3" name="KSOProductBuildVer">
    <vt:lpwstr>1033-12.2.0.20326</vt:lpwstr>
  </property>
</Properties>
</file>